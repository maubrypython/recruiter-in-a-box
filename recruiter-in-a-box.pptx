
<file path=[Content_Types].xml><?xml version="1.0" encoding="utf-8"?>
<Types xmlns="http://schemas.openxmlformats.org/package/2006/content-types">
  <Default Extension="png" ContentType="image/png"/>
  <Default Extension="png&amp;f=1&amp;nofb=1&amp;ipt=41a5bf0056e9bf8b62e69ade9ca22b1e286f6974fe50d88edb679598e6cd4429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0" r:id="rId2"/>
    <p:sldId id="273" r:id="rId3"/>
    <p:sldId id="272" r:id="rId4"/>
    <p:sldId id="274" r:id="rId5"/>
    <p:sldId id="276" r:id="rId6"/>
    <p:sldId id="277" r:id="rId7"/>
    <p:sldId id="275" r:id="rId8"/>
    <p:sldId id="28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723"/>
    <p:restoredTop sz="96932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02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Endless searching across too many websites</a:t>
            </a:r>
            <a:r>
              <a:rPr lang="en-US" dirty="0">
                <a:latin typeface="Futura PT Medium" panose="020B0502020204020303" pitchFamily="34" charset="77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Stale, out-of-date job application links.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Redundant data entry.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Ex: Do not list addresses or exact dates on your resume, but do manually reenter them in Workday.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Conflicting job application advice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Use AI, but don’t look like you use AI.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Ex: List the exact skills the posts list that you have, but not unless you have five years of experience in that exact thing listed as bullet on your resume.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Hurry up and wait.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Futura PT Medium" panose="020B0502020204020303" pitchFamily="34" charset="77"/>
              </a:rPr>
              <a:t>Apply. Wait a month. Recruiter schedules an interview… in two weeks. Pass. Schedule next interview… next week. Repeat until disqualified.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457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40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65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ubryPython/recruiter-in-a-box" TargetMode="External"/><Relationship Id="rId2" Type="http://schemas.openxmlformats.org/officeDocument/2006/relationships/hyperlink" Target="http://www.linkedin.com/in/aubjob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&amp;f=1&amp;nofb=1&amp;ipt=41a5bf0056e9bf8b62e69ade9ca22b1e286f6974fe50d88edb679598e6cd4429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maubryPython/recruiter-in-a-bo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maubryPython/recruiter-in-a-box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03278-3764-209F-F54A-063A7DD704D8}"/>
              </a:ext>
            </a:extLst>
          </p:cNvPr>
          <p:cNvSpPr txBox="1"/>
          <p:nvPr/>
        </p:nvSpPr>
        <p:spPr>
          <a:xfrm>
            <a:off x="802639" y="1076960"/>
            <a:ext cx="67809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recruiter-in-a-box</a:t>
            </a:r>
          </a:p>
          <a:p>
            <a:endParaRPr lang="en-US" sz="1600" dirty="0">
              <a:latin typeface="Futura PT Bold" panose="020B0502020204020303" pitchFamily="34" charset="77"/>
            </a:endParaRPr>
          </a:p>
          <a:p>
            <a:r>
              <a:rPr lang="en-US" dirty="0">
                <a:latin typeface="Futura PT Medium" panose="020B0502020204020303" pitchFamily="34" charset="77"/>
              </a:rPr>
              <a:t>How I used Claude AI to help find a job search make my application process a little easier.</a:t>
            </a:r>
          </a:p>
          <a:p>
            <a:endParaRPr lang="en-US" dirty="0">
              <a:latin typeface="Futura PT Medium" panose="020B0502020204020303" pitchFamily="34" charset="77"/>
            </a:endParaRPr>
          </a:p>
          <a:p>
            <a:r>
              <a:rPr lang="en-US" sz="2400" dirty="0">
                <a:latin typeface="Futura PT Medium" panose="020B0502020204020303" pitchFamily="34" charset="77"/>
              </a:rPr>
              <a:t>Michael Aubry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 PT Medium" panose="020B0502020204020303" pitchFamily="34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www.linkedin.com/in/aubjobm/</a:t>
            </a:r>
            <a:endParaRPr lang="en-US" sz="1400" dirty="0">
              <a:latin typeface="Futura PT Medium" panose="020B0502020204020303" pitchFamily="34" charset="77"/>
            </a:endParaRP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 PT Medium" panose="020B0502020204020303" pitchFamily="34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https://github.com/maubryPython/recruiter-in-a-box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 PT Medium" panose="020B0502020204020303" pitchFamily="34" charset="77"/>
            </a:endParaRPr>
          </a:p>
          <a:p>
            <a:endParaRPr lang="en-US" dirty="0">
              <a:latin typeface="Futura PT Medium" panose="020B05020202040203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4864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90F57-DAA5-851D-1FAF-456D5583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483CC0-F9D9-109A-F43B-5DCD06902AD7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utura PT Bold" panose="020B0502020204020303" pitchFamily="34" charset="77"/>
              </a:rPr>
              <a:t>Job Hunting is the worst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1859BD-0249-0895-A776-D54B52FD1C85}"/>
              </a:ext>
            </a:extLst>
          </p:cNvPr>
          <p:cNvSpPr txBox="1"/>
          <p:nvPr/>
        </p:nvSpPr>
        <p:spPr>
          <a:xfrm>
            <a:off x="416951" y="1297579"/>
            <a:ext cx="789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Endless searching across too many websites</a:t>
            </a:r>
            <a:endParaRPr lang="en-US" dirty="0">
              <a:latin typeface="Futura PT Medium" panose="020B05020202040203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Stale, out-of-date job application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Redundant data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Hurry up and wait</a:t>
            </a:r>
          </a:p>
        </p:txBody>
      </p:sp>
      <p:pic>
        <p:nvPicPr>
          <p:cNvPr id="5" name="Graphic 4" descr="Sad face outline with solid fill">
            <a:extLst>
              <a:ext uri="{FF2B5EF4-FFF2-40B4-BE49-F238E27FC236}">
                <a16:creationId xmlns:a16="http://schemas.microsoft.com/office/drawing/2014/main" id="{44954225-9960-98F6-74B3-DB284EF23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888" y="1239018"/>
            <a:ext cx="1597377" cy="159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7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FC890-5F7A-1B89-A112-910A39DA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4871B-FBAA-7879-320E-A0FC05AACC77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utura PT Bold" panose="020B0502020204020303" pitchFamily="34" charset="77"/>
              </a:rPr>
              <a:t>I can’t help with all that, but…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6214C-2930-2DC2-F33D-E6A894EAF675}"/>
              </a:ext>
            </a:extLst>
          </p:cNvPr>
          <p:cNvSpPr txBox="1"/>
          <p:nvPr/>
        </p:nvSpPr>
        <p:spPr>
          <a:xfrm>
            <a:off x="299720" y="1313210"/>
            <a:ext cx="51753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Futura PT Medium" panose="020B0502020204020303" pitchFamily="34" charset="77"/>
              </a:rPr>
              <a:t>I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Encourage you. (Keep going!)</a:t>
            </a:r>
            <a:endParaRPr lang="en-US" dirty="0">
              <a:latin typeface="Futura PT Medium" panose="020B05020202040203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R</a:t>
            </a:r>
            <a:r>
              <a:rPr lang="en-US" sz="1800" dirty="0">
                <a:latin typeface="Futura PT Medium" panose="020B0502020204020303" pitchFamily="34" charset="77"/>
              </a:rPr>
              <a:t>eassure you. (You will get through this!)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Show you what I’ve learned. (Use this!)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Futura PT Medium" panose="020B05020202040203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Futura PT Medium" panose="020B0502020204020303" pitchFamily="34" charset="77"/>
            </a:endParaRPr>
          </a:p>
          <a:p>
            <a:r>
              <a:rPr lang="en-US" dirty="0">
                <a:latin typeface="Futura PT Medium" panose="020B0502020204020303" pitchFamily="34" charset="77"/>
              </a:rPr>
              <a:t>Most of the interviews I received were through networking. </a:t>
            </a:r>
          </a:p>
          <a:p>
            <a:br>
              <a:rPr lang="en-US" dirty="0">
                <a:latin typeface="Futura PT Medium" panose="020B0502020204020303" pitchFamily="34" charset="77"/>
              </a:rPr>
            </a:br>
            <a:r>
              <a:rPr lang="en-US" dirty="0">
                <a:latin typeface="Futura PT Medium" panose="020B0502020204020303" pitchFamily="34" charset="77"/>
              </a:rPr>
              <a:t>But this method is what actually got me a job. </a:t>
            </a:r>
          </a:p>
        </p:txBody>
      </p:sp>
      <p:pic>
        <p:nvPicPr>
          <p:cNvPr id="5" name="Graphic 4" descr="Smiling face outline with solid fill">
            <a:extLst>
              <a:ext uri="{FF2B5EF4-FFF2-40B4-BE49-F238E27FC236}">
                <a16:creationId xmlns:a16="http://schemas.microsoft.com/office/drawing/2014/main" id="{A05F02F5-B800-DD62-C1A4-05F261BD7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2889" y="1253190"/>
            <a:ext cx="1597376" cy="15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F1DFC-D5D9-1327-B225-CF4202F8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A9082-07F8-0491-CE37-5B957922B20B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utura PT Bold" panose="020B0502020204020303" pitchFamily="34" charset="77"/>
              </a:rPr>
              <a:t>This is how I search for jobs: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7F673B2-E3B6-1AE5-748B-0EA8CD0B0489}"/>
              </a:ext>
            </a:extLst>
          </p:cNvPr>
          <p:cNvGrpSpPr/>
          <p:nvPr/>
        </p:nvGrpSpPr>
        <p:grpSpPr>
          <a:xfrm>
            <a:off x="6276224" y="1899827"/>
            <a:ext cx="2834640" cy="1325880"/>
            <a:chOff x="5914683" y="2486926"/>
            <a:chExt cx="2834640" cy="132588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FD6509AE-581E-0D65-B2FD-12A826BAA05C}"/>
                </a:ext>
              </a:extLst>
            </p:cNvPr>
            <p:cNvSpPr/>
            <p:nvPr/>
          </p:nvSpPr>
          <p:spPr>
            <a:xfrm>
              <a:off x="5914683" y="2486926"/>
              <a:ext cx="2834640" cy="1325880"/>
            </a:xfrm>
            <a:prstGeom prst="roundRect">
              <a:avLst>
                <a:gd name="adj" fmla="val 5517"/>
              </a:avLst>
            </a:prstGeom>
            <a:solidFill>
              <a:srgbClr val="1E2E52"/>
            </a:solidFill>
            <a:ln w="12700">
              <a:solidFill>
                <a:srgbClr val="1E2E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3682E741-C55B-3D19-FFD8-F366B780102C}"/>
                </a:ext>
              </a:extLst>
            </p:cNvPr>
            <p:cNvSpPr/>
            <p:nvPr/>
          </p:nvSpPr>
          <p:spPr>
            <a:xfrm>
              <a:off x="6115851" y="2761246"/>
              <a:ext cx="731520" cy="731520"/>
            </a:xfrm>
            <a:prstGeom prst="ellipse">
              <a:avLst/>
            </a:prstGeom>
            <a:solidFill>
              <a:srgbClr val="E09F3E"/>
            </a:solidFill>
            <a:ln w="12700">
              <a:solidFill>
                <a:srgbClr val="E09F3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F8B75994-51EC-F6FA-1A7F-74CF4BFC5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6046" y="2951441"/>
              <a:ext cx="351130" cy="351130"/>
            </a:xfrm>
            <a:prstGeom prst="rect">
              <a:avLst/>
            </a:prstGeom>
          </p:spPr>
        </p:pic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EB7D241D-C7A3-7D21-98BE-17A5765A5240}"/>
                </a:ext>
              </a:extLst>
            </p:cNvPr>
            <p:cNvSpPr txBox="1"/>
            <p:nvPr/>
          </p:nvSpPr>
          <p:spPr>
            <a:xfrm>
              <a:off x="7011963" y="2688094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resumeStart</a:t>
              </a:r>
              <a:endParaRPr lang="en-US" sz="18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DAD3B51F-470B-6438-3E98-89BFBF80AF18}"/>
                </a:ext>
              </a:extLst>
            </p:cNvPr>
            <p:cNvSpPr txBox="1"/>
            <p:nvPr/>
          </p:nvSpPr>
          <p:spPr>
            <a:xfrm>
              <a:off x="7011963" y="3051729"/>
              <a:ext cx="157261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“Use </a:t>
              </a:r>
              <a:r>
                <a:rPr lang="en-US" sz="1150" dirty="0" err="1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resumeStart</a:t>
              </a:r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 to for &lt;insert job post&gt;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cs typeface="Calibri" pitchFamily="34" charset="-120"/>
                </a:rPr>
                <a:t>”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A53D8C-26E2-F4D5-D218-68CA4E34ECC5}"/>
              </a:ext>
            </a:extLst>
          </p:cNvPr>
          <p:cNvGrpSpPr/>
          <p:nvPr/>
        </p:nvGrpSpPr>
        <p:grpSpPr>
          <a:xfrm>
            <a:off x="3251389" y="1908809"/>
            <a:ext cx="2834640" cy="1325880"/>
            <a:chOff x="5920967" y="953477"/>
            <a:chExt cx="2834640" cy="1325880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D4F8A2F-7796-F08F-D466-87223D61D5F5}"/>
                </a:ext>
              </a:extLst>
            </p:cNvPr>
            <p:cNvSpPr/>
            <p:nvPr/>
          </p:nvSpPr>
          <p:spPr>
            <a:xfrm>
              <a:off x="5920967" y="953477"/>
              <a:ext cx="2834640" cy="1325880"/>
            </a:xfrm>
            <a:prstGeom prst="roundRect">
              <a:avLst>
                <a:gd name="adj" fmla="val 5517"/>
              </a:avLst>
            </a:prstGeom>
            <a:solidFill>
              <a:srgbClr val="1E2E52"/>
            </a:solidFill>
            <a:ln w="12700">
              <a:solidFill>
                <a:srgbClr val="1E2E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8A1F40E8-3866-1CFD-176C-4CBDFB2FB524}"/>
                </a:ext>
              </a:extLst>
            </p:cNvPr>
            <p:cNvSpPr/>
            <p:nvPr/>
          </p:nvSpPr>
          <p:spPr>
            <a:xfrm>
              <a:off x="6122135" y="1227797"/>
              <a:ext cx="731520" cy="731520"/>
            </a:xfrm>
            <a:prstGeom prst="ellipse">
              <a:avLst/>
            </a:prstGeom>
            <a:solidFill>
              <a:srgbClr val="2A9D8F"/>
            </a:solidFill>
            <a:ln w="12700">
              <a:solidFill>
                <a:srgbClr val="2A9D8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1" descr="preencoded.png">
              <a:extLst>
                <a:ext uri="{FF2B5EF4-FFF2-40B4-BE49-F238E27FC236}">
                  <a16:creationId xmlns:a16="http://schemas.microsoft.com/office/drawing/2014/main" id="{C3B50F1B-F7E3-CAEF-DA39-2AE813722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330" y="1417992"/>
              <a:ext cx="351130" cy="351130"/>
            </a:xfrm>
            <a:prstGeom prst="rect">
              <a:avLst/>
            </a:prstGeom>
          </p:spPr>
        </p:pic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4F788FD9-F31B-F06C-6637-1A619DC914AE}"/>
                </a:ext>
              </a:extLst>
            </p:cNvPr>
            <p:cNvSpPr txBox="1"/>
            <p:nvPr/>
          </p:nvSpPr>
          <p:spPr>
            <a:xfrm>
              <a:off x="7018247" y="1154645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jobSearch</a:t>
              </a:r>
              <a:endParaRPr lang="en-US" sz="1800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718BFB97-8E68-5C02-CA23-24DCB5B23252}"/>
                </a:ext>
              </a:extLst>
            </p:cNvPr>
            <p:cNvSpPr txBox="1"/>
            <p:nvPr/>
          </p:nvSpPr>
          <p:spPr>
            <a:xfrm>
              <a:off x="7018247" y="1538693"/>
              <a:ext cx="1645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“Use </a:t>
              </a:r>
              <a:r>
                <a:rPr lang="en-US" sz="1150" dirty="0" err="1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jobSearch</a:t>
              </a:r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 to find 5 jobs to apply for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cs typeface="Calibri" pitchFamily="34" charset="-120"/>
                </a:rPr>
                <a:t>”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F63066-2761-D3A0-1094-58FDBAB44AF2}"/>
              </a:ext>
            </a:extLst>
          </p:cNvPr>
          <p:cNvGrpSpPr/>
          <p:nvPr/>
        </p:nvGrpSpPr>
        <p:grpSpPr>
          <a:xfrm>
            <a:off x="197881" y="1908809"/>
            <a:ext cx="2834640" cy="1325880"/>
            <a:chOff x="197881" y="3433276"/>
            <a:chExt cx="2834640" cy="1325880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6CAEA03-76DB-1321-83D8-6029FC009A3B}"/>
                </a:ext>
              </a:extLst>
            </p:cNvPr>
            <p:cNvSpPr/>
            <p:nvPr/>
          </p:nvSpPr>
          <p:spPr>
            <a:xfrm>
              <a:off x="197881" y="3433276"/>
              <a:ext cx="2834640" cy="1325880"/>
            </a:xfrm>
            <a:prstGeom prst="roundRect">
              <a:avLst>
                <a:gd name="adj" fmla="val 5517"/>
              </a:avLst>
            </a:prstGeom>
            <a:solidFill>
              <a:srgbClr val="1E2E52"/>
            </a:solidFill>
            <a:ln w="12700">
              <a:solidFill>
                <a:srgbClr val="1E2E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C07DAB0B-6B9C-18A5-1AA7-0B7D14AC7252}"/>
                </a:ext>
              </a:extLst>
            </p:cNvPr>
            <p:cNvSpPr txBox="1"/>
            <p:nvPr/>
          </p:nvSpPr>
          <p:spPr>
            <a:xfrm>
              <a:off x="1295161" y="3634444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Claude</a:t>
              </a:r>
              <a:endParaRPr lang="en-US" sz="1800" dirty="0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9EC9A6A0-A373-E20A-BDF2-465EB1267CF0}"/>
                </a:ext>
              </a:extLst>
            </p:cNvPr>
            <p:cNvSpPr txBox="1"/>
            <p:nvPr/>
          </p:nvSpPr>
          <p:spPr>
            <a:xfrm>
              <a:off x="1295161" y="4018492"/>
              <a:ext cx="1645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Launch Claude. ($20/month)</a:t>
              </a:r>
              <a:endParaRPr lang="en-US" sz="1150" dirty="0"/>
            </a:p>
          </p:txBody>
        </p:sp>
        <p:pic>
          <p:nvPicPr>
            <p:cNvPr id="3" name="Picture 2" descr="File:Claude-ai-icon.svg - Wikimedia Commons">
              <a:extLst>
                <a:ext uri="{FF2B5EF4-FFF2-40B4-BE49-F238E27FC236}">
                  <a16:creationId xmlns:a16="http://schemas.microsoft.com/office/drawing/2014/main" id="{943FB84D-872D-B674-1A1F-E24B3AF4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373676" y="3647394"/>
              <a:ext cx="745691" cy="742196"/>
            </a:xfrm>
            <a:prstGeom prst="rect">
              <a:avLst/>
            </a:prstGeom>
          </p:spPr>
        </p:pic>
      </p:grpSp>
      <p:sp>
        <p:nvSpPr>
          <p:cNvPr id="25" name="Curved Up Arrow 24">
            <a:extLst>
              <a:ext uri="{FF2B5EF4-FFF2-40B4-BE49-F238E27FC236}">
                <a16:creationId xmlns:a16="http://schemas.microsoft.com/office/drawing/2014/main" id="{3AB2EAF1-EB59-A261-65AB-2A28BCC79340}"/>
              </a:ext>
            </a:extLst>
          </p:cNvPr>
          <p:cNvSpPr/>
          <p:nvPr/>
        </p:nvSpPr>
        <p:spPr>
          <a:xfrm>
            <a:off x="1325641" y="3350228"/>
            <a:ext cx="3561319" cy="70104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rved Up Arrow 25">
            <a:extLst>
              <a:ext uri="{FF2B5EF4-FFF2-40B4-BE49-F238E27FC236}">
                <a16:creationId xmlns:a16="http://schemas.microsoft.com/office/drawing/2014/main" id="{F9CA6E89-BD21-3BFC-C538-11CC271970BA}"/>
              </a:ext>
            </a:extLst>
          </p:cNvPr>
          <p:cNvSpPr/>
          <p:nvPr/>
        </p:nvSpPr>
        <p:spPr>
          <a:xfrm flipV="1">
            <a:off x="4572000" y="1223932"/>
            <a:ext cx="3378436" cy="56388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7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B6273-014A-8032-926E-E51BCBCD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3F1538-B6FD-4FD4-4ACE-7401A4C25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334" y="1092230"/>
            <a:ext cx="4847970" cy="15615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0A1CB5-2C94-98D1-A974-2F48772E0F77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utura PT Bold" panose="020B0502020204020303" pitchFamily="34" charset="77"/>
              </a:rPr>
              <a:t>First, I search for jobs:</a:t>
            </a:r>
          </a:p>
        </p:txBody>
      </p:sp>
      <p:pic>
        <p:nvPicPr>
          <p:cNvPr id="4" name="Image 0" descr="/home/claude/deck/real_chat.png">
            <a:extLst>
              <a:ext uri="{FF2B5EF4-FFF2-40B4-BE49-F238E27FC236}">
                <a16:creationId xmlns:a16="http://schemas.microsoft.com/office/drawing/2014/main" id="{06AB27B7-9F18-82D3-953A-47F5C9ED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773"/>
          <a:stretch>
            <a:fillRect/>
          </a:stretch>
        </p:blipFill>
        <p:spPr>
          <a:xfrm>
            <a:off x="3565333" y="2653800"/>
            <a:ext cx="4847971" cy="244023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4CD1586-0C8C-D938-CD7A-734904F4541D}"/>
              </a:ext>
            </a:extLst>
          </p:cNvPr>
          <p:cNvGrpSpPr/>
          <p:nvPr/>
        </p:nvGrpSpPr>
        <p:grpSpPr>
          <a:xfrm>
            <a:off x="299719" y="1092230"/>
            <a:ext cx="2834640" cy="1325880"/>
            <a:chOff x="5920967" y="953477"/>
            <a:chExt cx="2834640" cy="1325880"/>
          </a:xfrm>
        </p:grpSpPr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F09A60B1-E9A0-0F60-DBC5-B664A9A52526}"/>
                </a:ext>
              </a:extLst>
            </p:cNvPr>
            <p:cNvSpPr/>
            <p:nvPr/>
          </p:nvSpPr>
          <p:spPr>
            <a:xfrm>
              <a:off x="5920967" y="953477"/>
              <a:ext cx="2834640" cy="1325880"/>
            </a:xfrm>
            <a:prstGeom prst="roundRect">
              <a:avLst>
                <a:gd name="adj" fmla="val 5517"/>
              </a:avLst>
            </a:prstGeom>
            <a:solidFill>
              <a:srgbClr val="1E2E52"/>
            </a:solidFill>
            <a:ln w="12700">
              <a:solidFill>
                <a:srgbClr val="1E2E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A2C869E7-F40B-C2BB-A2D0-ECF3D62987E8}"/>
                </a:ext>
              </a:extLst>
            </p:cNvPr>
            <p:cNvSpPr/>
            <p:nvPr/>
          </p:nvSpPr>
          <p:spPr>
            <a:xfrm>
              <a:off x="6122135" y="1227797"/>
              <a:ext cx="731520" cy="731520"/>
            </a:xfrm>
            <a:prstGeom prst="ellipse">
              <a:avLst/>
            </a:prstGeom>
            <a:solidFill>
              <a:srgbClr val="2A9D8F"/>
            </a:solidFill>
            <a:ln w="12700">
              <a:solidFill>
                <a:srgbClr val="2A9D8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1" descr="preencoded.png">
              <a:extLst>
                <a:ext uri="{FF2B5EF4-FFF2-40B4-BE49-F238E27FC236}">
                  <a16:creationId xmlns:a16="http://schemas.microsoft.com/office/drawing/2014/main" id="{F020AA49-8520-A928-D5A8-E6F09E5AD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2330" y="1417992"/>
              <a:ext cx="351130" cy="351130"/>
            </a:xfrm>
            <a:prstGeom prst="rect">
              <a:avLst/>
            </a:prstGeom>
          </p:spPr>
        </p:pic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52FE4EA9-A18A-2B12-64D2-B3545738B3E8}"/>
                </a:ext>
              </a:extLst>
            </p:cNvPr>
            <p:cNvSpPr txBox="1"/>
            <p:nvPr/>
          </p:nvSpPr>
          <p:spPr>
            <a:xfrm>
              <a:off x="7018247" y="1154645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jobSearch</a:t>
              </a:r>
              <a:endParaRPr lang="en-US" sz="18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314D8EEB-AFD2-9D11-FC0C-9648C9E78B65}"/>
                </a:ext>
              </a:extLst>
            </p:cNvPr>
            <p:cNvSpPr txBox="1"/>
            <p:nvPr/>
          </p:nvSpPr>
          <p:spPr>
            <a:xfrm>
              <a:off x="7018247" y="1538693"/>
              <a:ext cx="16459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“Use </a:t>
              </a:r>
              <a:r>
                <a:rPr lang="en-US" sz="1150" dirty="0" err="1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jobSearch</a:t>
              </a:r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 to find 5 jobs to apply for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cs typeface="Calibri" pitchFamily="34" charset="-120"/>
                </a:rPr>
                <a:t>”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2179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C289-7BBB-AE49-8C4D-5B99F806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F2E42-493E-2411-E050-EBBBA9C78FB7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utura PT Bold" panose="020B0502020204020303" pitchFamily="34" charset="77"/>
              </a:rPr>
              <a:t>Then, I convert posts to resumes: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A971BB-9046-6BD8-2FB8-08C7DD67F1AA}"/>
              </a:ext>
            </a:extLst>
          </p:cNvPr>
          <p:cNvGrpSpPr/>
          <p:nvPr/>
        </p:nvGrpSpPr>
        <p:grpSpPr>
          <a:xfrm>
            <a:off x="418737" y="1197214"/>
            <a:ext cx="2834640" cy="1325880"/>
            <a:chOff x="5914683" y="2486926"/>
            <a:chExt cx="2834640" cy="132588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C3514111-68F8-BB76-FC6C-DAFB1D0F64E3}"/>
                </a:ext>
              </a:extLst>
            </p:cNvPr>
            <p:cNvSpPr/>
            <p:nvPr/>
          </p:nvSpPr>
          <p:spPr>
            <a:xfrm>
              <a:off x="5914683" y="2486926"/>
              <a:ext cx="2834640" cy="1325880"/>
            </a:xfrm>
            <a:prstGeom prst="roundRect">
              <a:avLst>
                <a:gd name="adj" fmla="val 5517"/>
              </a:avLst>
            </a:prstGeom>
            <a:solidFill>
              <a:srgbClr val="1E2E52"/>
            </a:solidFill>
            <a:ln w="12700">
              <a:solidFill>
                <a:srgbClr val="1E2E5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95776D8-77F2-587B-293D-655C4C43B6FA}"/>
                </a:ext>
              </a:extLst>
            </p:cNvPr>
            <p:cNvSpPr/>
            <p:nvPr/>
          </p:nvSpPr>
          <p:spPr>
            <a:xfrm>
              <a:off x="6115851" y="2761246"/>
              <a:ext cx="731520" cy="731520"/>
            </a:xfrm>
            <a:prstGeom prst="ellipse">
              <a:avLst/>
            </a:prstGeom>
            <a:solidFill>
              <a:srgbClr val="E09F3E"/>
            </a:solidFill>
            <a:ln w="12700">
              <a:solidFill>
                <a:srgbClr val="E09F3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85510817-0996-2776-BCBB-2B26F7023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6046" y="2951441"/>
              <a:ext cx="351130" cy="351130"/>
            </a:xfrm>
            <a:prstGeom prst="rect">
              <a:avLst/>
            </a:prstGeom>
          </p:spPr>
        </p:pic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1EA93416-237E-B2CE-9062-6BD8656C470C}"/>
                </a:ext>
              </a:extLst>
            </p:cNvPr>
            <p:cNvSpPr txBox="1"/>
            <p:nvPr/>
          </p:nvSpPr>
          <p:spPr>
            <a:xfrm>
              <a:off x="7011963" y="2688094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resumeStart</a:t>
              </a:r>
              <a:endParaRPr lang="en-US" sz="18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FFDCEAAF-3658-FDF2-6EE3-E94EA7DCF1D3}"/>
                </a:ext>
              </a:extLst>
            </p:cNvPr>
            <p:cNvSpPr txBox="1"/>
            <p:nvPr/>
          </p:nvSpPr>
          <p:spPr>
            <a:xfrm>
              <a:off x="7011963" y="3051729"/>
              <a:ext cx="157261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“Use </a:t>
              </a:r>
              <a:r>
                <a:rPr lang="en-US" sz="1150" dirty="0" err="1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resumeStart</a:t>
              </a:r>
              <a:r>
                <a:rPr lang="en-US" sz="1150" dirty="0">
                  <a:solidFill>
                    <a:srgbClr val="C9D1E0"/>
                  </a:solidFill>
                  <a:latin typeface="Calibri" pitchFamily="34" charset="0"/>
                  <a:cs typeface="Calibri" pitchFamily="34" charset="-120"/>
                </a:rPr>
                <a:t> to for &lt;insert job post&gt;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cs typeface="Calibri" pitchFamily="34" charset="-120"/>
                </a:rPr>
                <a:t>”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EE0E046-18F7-1484-CBF7-7EFE6FC64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37" y="2820125"/>
            <a:ext cx="2845378" cy="1232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3449E1-4CF3-34D3-F112-3A1ADDECCE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18" r="3223"/>
          <a:stretch>
            <a:fillRect/>
          </a:stretch>
        </p:blipFill>
        <p:spPr>
          <a:xfrm>
            <a:off x="3581838" y="1197214"/>
            <a:ext cx="5143425" cy="285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1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6B908-AB80-F181-6B00-894485AB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C31D2-8B2E-16EE-4B25-9AB9C6025763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Futura PT Medium" panose="020B0502020204020303" pitchFamily="34" charset="77"/>
              </a:rPr>
              <a:t>This method is not magic: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CCBB9-DDD2-272F-09D7-B7F983C68891}"/>
              </a:ext>
            </a:extLst>
          </p:cNvPr>
          <p:cNvSpPr txBox="1"/>
          <p:nvPr/>
        </p:nvSpPr>
        <p:spPr>
          <a:xfrm>
            <a:off x="299720" y="1065837"/>
            <a:ext cx="59553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Futura PT Medium" panose="020B0502020204020303" pitchFamily="34" charset="77"/>
              </a:rPr>
              <a:t>Treat this as a supplemental job searc</a:t>
            </a:r>
            <a:r>
              <a:rPr lang="en-US" dirty="0">
                <a:latin typeface="Futura PT Medium" panose="020B0502020204020303" pitchFamily="34" charset="77"/>
              </a:rPr>
              <a:t>h and application tool. It isn’t automatic</a:t>
            </a:r>
            <a:r>
              <a:rPr lang="en-US" sz="1800" dirty="0">
                <a:latin typeface="Futura PT Medium" panose="020B0502020204020303" pitchFamily="34" charset="7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Do not stop networking. This helps, but most of my opportunities came from my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Don’t blindly trust it.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Don’t submit slop.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Always proofread whatever you submit. It’s rare, but it will hallucinate qualifications.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PT Medium" panose="020B0502020204020303" pitchFamily="34" charset="77"/>
              </a:rPr>
              <a:t>Sometimes the validation links fail. Update as is relevant. </a:t>
            </a:r>
          </a:p>
          <a:p>
            <a:endParaRPr lang="en-US" dirty="0">
              <a:latin typeface="Futura PT Medium" panose="020B0502020204020303" pitchFamily="34" charset="77"/>
            </a:endParaRPr>
          </a:p>
          <a:p>
            <a:r>
              <a:rPr lang="en-US" dirty="0">
                <a:latin typeface="Futura PT Medium" panose="020B0502020204020303" pitchFamily="34" charset="77"/>
              </a:rPr>
              <a:t>(It will get you started though!)</a:t>
            </a:r>
          </a:p>
        </p:txBody>
      </p:sp>
      <p:pic>
        <p:nvPicPr>
          <p:cNvPr id="5" name="Graphic 4" descr="Warning outline">
            <a:extLst>
              <a:ext uri="{FF2B5EF4-FFF2-40B4-BE49-F238E27FC236}">
                <a16:creationId xmlns:a16="http://schemas.microsoft.com/office/drawing/2014/main" id="{5E4F7D0D-354A-0E2C-EE72-36418511B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0071" y="1092230"/>
            <a:ext cx="2359164" cy="235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4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B200C-474C-9BBD-D2D1-B41CF423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B79765-356C-3B49-695A-60EA87F2D3ED}"/>
              </a:ext>
            </a:extLst>
          </p:cNvPr>
          <p:cNvSpPr txBox="1"/>
          <p:nvPr/>
        </p:nvSpPr>
        <p:spPr>
          <a:xfrm>
            <a:off x="299720" y="384344"/>
            <a:ext cx="8544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Futura PT Medium" panose="020B0502020204020303" pitchFamily="34" charset="77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3957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6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1 — Ask jobSearch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One sentence starts 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95000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No filters to fill in. The skill already knows the target roles, the Portland-or-remote rule, the 14-day window and the $90k floor.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334" y="2069214"/>
            <a:ext cx="4847970" cy="1561571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6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2 — It searches employer sites first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Not the job boards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95000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Autodesk, Trimble and Nike every run, in their vocabulary as well as mine. Their sites show the true posted date.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890" y="1200000"/>
            <a:ext cx="4542857" cy="329999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6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3 — Every posting gets checked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Live, on the employer’s page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95000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Fetch the page, scan it for “no longer accepting” and “page not found”, and take the posted date from the employer.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890" y="1200000"/>
            <a:ext cx="4542857" cy="329999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4 — Results output to a spreadsheet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Apply links you can click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95000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Ranked by pay, fit and recency, with what got filtered out and why. Column 4 is always the employer’s own application link.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334" y="2185359"/>
            <a:ext cx="4847970" cy="132928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6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5 — Hand the job to resumeStart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14213D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Point it at the posting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62657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“Prepare a resume for #1”, or paste the job URL. It asks: ATS or human-readable, IC or manager, which themes, cover letter?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334" y="1799606"/>
            <a:ext cx="4847970" cy="2100787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6 — A tailored resume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14213D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Built for either a human or a parser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95000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Each resume strives to use the posting’s exact words and apply to my real experience. Gaps are left out, not invented.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15" y="1200000"/>
            <a:ext cx="4557607" cy="3300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99720" y="330000"/>
            <a:ext cx="8544560" cy="6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Step 7 — Apply</a:t>
            </a:r>
          </a:p>
        </p:txBody>
      </p:sp>
      <p:sp>
        <p:nvSpPr>
          <p:cNvPr id="10" name="Shape 10"/>
          <p:cNvSpPr/>
          <p:nvPr/>
        </p:nvSpPr>
        <p:spPr>
          <a:xfrm>
            <a:off x="299719" y="1200000"/>
            <a:ext cx="2834640" cy="260000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1E2E5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00887" y="1400000"/>
            <a:ext cx="731520" cy="7315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14213D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7" y="2250000"/>
            <a:ext cx="2432304" cy="6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Autofill with Resume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87" y="2659240"/>
            <a:ext cx="2432304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cs typeface="Calibri" pitchFamily="34" charset="0"/>
              </a:rPr>
              <a:t>Single column, no tables, a company name in every role block — so Workday fills the employer fields instead of leaving them blank.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748" y="1200000"/>
            <a:ext cx="3677142" cy="3300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8A901-53F1-270E-7F5D-3144FA86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FE07ED-90FC-0D95-E846-D3EEAB4F7D31}"/>
              </a:ext>
            </a:extLst>
          </p:cNvPr>
          <p:cNvSpPr txBox="1"/>
          <p:nvPr/>
        </p:nvSpPr>
        <p:spPr>
          <a:xfrm>
            <a:off x="299720" y="330000"/>
            <a:ext cx="85445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Where to download: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https://github.com/maubryPython/recruiter-in-a-box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endParaRPr lang="en-US" sz="3200" dirty="0">
              <a:latin typeface="Futura PT Bold" panose="020B05020202040203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6A800-F6A1-ED69-1A2D-329C2F4F1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" y="1716402"/>
            <a:ext cx="5333435" cy="30970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764FFA-8965-3FDF-9AA5-6BC73072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866"/>
          <a:stretch>
            <a:fillRect/>
          </a:stretch>
        </p:blipFill>
        <p:spPr>
          <a:xfrm>
            <a:off x="5878591" y="2275862"/>
            <a:ext cx="2720253" cy="14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06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703F0-6853-5491-58EF-6CA8072E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789E5E3-DA24-641F-F2B8-131DA067CDA2}"/>
              </a:ext>
            </a:extLst>
          </p:cNvPr>
          <p:cNvSpPr txBox="1"/>
          <p:nvPr/>
        </p:nvSpPr>
        <p:spPr>
          <a:xfrm>
            <a:off x="299720" y="330000"/>
            <a:ext cx="85445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utura PT Bold" panose="020B0502020204020303" pitchFamily="34" charset="77"/>
              </a:rPr>
              <a:t>How to Start: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https://github.com/maubryPython/recruiter-in-a-box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endParaRPr lang="en-US" sz="3200" dirty="0">
              <a:latin typeface="Futura PT Bold" panose="020B05020202040203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5206-5EF9-9BF9-B570-13E83C63D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" y="1580128"/>
            <a:ext cx="5749178" cy="32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3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6442</TotalTime>
  <Words>706</Words>
  <Application>Microsoft Macintosh PowerPoint</Application>
  <PresentationFormat>On-screen Show (16:9)</PresentationFormat>
  <Paragraphs>83</Paragraphs>
  <Slides>17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Futura PT Bold</vt:lpstr>
      <vt:lpstr>Futura 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Job-Hunt Crew: resumeStart + jobSearch</dc:title>
  <dc:subject>PptxGenJS Presentation</dc:subject>
  <dc:creator>Michael Aubry</dc:creator>
  <cp:lastModifiedBy>Michael Aubry</cp:lastModifiedBy>
  <cp:revision>8</cp:revision>
  <dcterms:created xsi:type="dcterms:W3CDTF">2026-09-11T17:39:18Z</dcterms:created>
  <dcterms:modified xsi:type="dcterms:W3CDTF">2026-09-25T17:31:23Z</dcterms:modified>
</cp:coreProperties>
</file>