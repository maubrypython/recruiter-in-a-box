
<file path=[Content_Types].xml><?xml version="1.0" encoding="utf-8"?>
<Types xmlns="http://schemas.openxmlformats.org/package/2006/content-types">
  <Default Extension="png" ContentType="image/png"/>
  <Default Extension="png&amp;f=1&amp;nofb=1&amp;ipt=41a5bf0056e9bf8b62e69ade9ca22b1e286f6974fe50d88edb679598e6cd4429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70" r:id="rId2"/>
    <p:sldId id="273" r:id="rId3"/>
    <p:sldId id="272" r:id="rId4"/>
    <p:sldId id="274" r:id="rId5"/>
    <p:sldId id="276" r:id="rId6"/>
    <p:sldId id="277" r:id="rId7"/>
    <p:sldId id="275" r:id="rId8"/>
    <p:sldId id="286" r:id="rId9"/>
    <p:sldId id="278" r:id="rId10"/>
    <p:sldId id="279" r:id="rId11"/>
    <p:sldId id="280" r:id="rId12"/>
    <p:sldId id="281" r:id="rId13"/>
    <p:sldId id="282" r:id="rId14"/>
    <p:sldId id="283" r:id="rId15"/>
    <p:sldId id="284" r:id="rId16"/>
    <p:sldId id="285" r:id="rId17"/>
    <p:sldId id="287" r:id="rId1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32537"/>
    <p:restoredTop sz="96932"/>
  </p:normalViewPr>
  <p:slideViewPr>
    <p:cSldViewPr snapToGrid="0" snapToObjects="1">
      <p:cViewPr varScale="1">
        <p:scale>
          <a:sx n="93" d="100"/>
          <a:sy n="93" d="100"/>
        </p:scale>
        <p:origin x="224" y="12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810274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>
                <a:latin typeface="Futura PT Medium" panose="020B0502020204020303" pitchFamily="34" charset="77"/>
              </a:rPr>
              <a:t>Endless searching across too many websites</a:t>
            </a:r>
            <a:r>
              <a:rPr lang="en-US" dirty="0">
                <a:latin typeface="Futura PT Medium" panose="020B0502020204020303" pitchFamily="34" charset="77"/>
              </a:rPr>
              <a:t>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>
                <a:latin typeface="Futura PT Medium" panose="020B0502020204020303" pitchFamily="34" charset="77"/>
              </a:rPr>
              <a:t>Stale, out-of-date job application links.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>
                <a:latin typeface="Futura PT Medium" panose="020B0502020204020303" pitchFamily="34" charset="77"/>
              </a:rPr>
              <a:t>Redundant data entry.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Futura PT Medium" panose="020B0502020204020303" pitchFamily="34" charset="77"/>
              </a:rPr>
              <a:t>Ex: Do not list addresses or exact dates on your resume, but do manually reenter them in Workday.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>
                <a:latin typeface="Futura PT Medium" panose="020B0502020204020303" pitchFamily="34" charset="77"/>
              </a:rPr>
              <a:t>Conflicting job application advice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Futura PT Medium" panose="020B0502020204020303" pitchFamily="34" charset="77"/>
              </a:rPr>
              <a:t>Use AI, but don’t look like you use AI.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Futura PT Medium" panose="020B0502020204020303" pitchFamily="34" charset="77"/>
              </a:rPr>
              <a:t>Ex: List the exact skills the posts list that you have, but not unless you have five years of experience in that exact thing listed as bullet on your resume.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>
                <a:latin typeface="Futura PT Medium" panose="020B0502020204020303" pitchFamily="34" charset="77"/>
              </a:rPr>
              <a:t>Hurry up and wait.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Futura PT Medium" panose="020B0502020204020303" pitchFamily="34" charset="77"/>
              </a:rPr>
              <a:t>Apply. Wait a month. Recruiter schedules an interview… in two weeks. Pass. Schedule next interview… next week. Repeat until disqualified.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84578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34406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89652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aubryPython/recruiter-in-a-box" TargetMode="External"/><Relationship Id="rId2" Type="http://schemas.openxmlformats.org/officeDocument/2006/relationships/hyperlink" Target="http://www.linkedin.com/in/aubjobm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&amp;f=1&amp;nofb=1&amp;ipt=41a5bf0056e9bf8b62e69ade9ca22b1e286f6974fe50d88edb679598e6cd4429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hyperlink" Target="https://github.com/maubryPython/recruiter-in-a-box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github.com/maubryPython/recruiter-in-a-box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303278-3764-209F-F54A-063A7DD704D8}"/>
              </a:ext>
            </a:extLst>
          </p:cNvPr>
          <p:cNvSpPr txBox="1"/>
          <p:nvPr/>
        </p:nvSpPr>
        <p:spPr>
          <a:xfrm>
            <a:off x="802639" y="1076960"/>
            <a:ext cx="6780918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recruiter-in-a-box</a:t>
            </a:r>
          </a:p>
          <a:p>
            <a:endParaRPr lang="en-US" sz="1600" dirty="0">
              <a:latin typeface="Futura PT Bold" panose="020B0502020204020303" pitchFamily="34" charset="77"/>
            </a:endParaRPr>
          </a:p>
          <a:p>
            <a:r>
              <a:rPr lang="en-US" dirty="0">
                <a:latin typeface="Futura PT Medium" panose="020B0502020204020303" pitchFamily="34" charset="77"/>
              </a:rPr>
              <a:t>How I used Claude AI to help find a job search make my application process a little easier.</a:t>
            </a:r>
          </a:p>
          <a:p>
            <a:endParaRPr lang="en-US" dirty="0">
              <a:latin typeface="Futura PT Medium" panose="020B0502020204020303" pitchFamily="34" charset="77"/>
            </a:endParaRPr>
          </a:p>
          <a:p>
            <a:r>
              <a:rPr lang="en-US" sz="2400" dirty="0">
                <a:latin typeface="Futura PT Medium" panose="020B0502020204020303" pitchFamily="34" charset="77"/>
              </a:rPr>
              <a:t>Michael Aubry</a:t>
            </a:r>
          </a:p>
          <a:p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Futura PT Medium" panose="020B0502020204020303" pitchFamily="34" charset="7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www.linkedin.com/in/aubjobm/</a:t>
            </a:r>
            <a:endParaRPr lang="en-US" sz="1400" dirty="0">
              <a:latin typeface="Futura PT Medium" panose="020B0502020204020303" pitchFamily="34" charset="77"/>
            </a:endParaRPr>
          </a:p>
          <a:p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Futura PT Medium" panose="020B0502020204020303" pitchFamily="34" charset="7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https://github.com/maubryPython/recruiter-in-a-box</a:t>
            </a:r>
            <a:endParaRPr lang="en-US" sz="1400" dirty="0">
              <a:solidFill>
                <a:schemeClr val="tx1">
                  <a:lumMod val="85000"/>
                  <a:lumOff val="15000"/>
                </a:schemeClr>
              </a:solidFill>
              <a:latin typeface="Futura PT Medium" panose="020B0502020204020303" pitchFamily="34" charset="77"/>
            </a:endParaRPr>
          </a:p>
          <a:p>
            <a:endParaRPr lang="en-US" dirty="0">
              <a:latin typeface="Futura PT Medium" panose="020B05020202040203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4486467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290F57-DAA5-851D-1FAF-456D558326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5483CC0-F9D9-109A-F43B-5DCD06902AD7}"/>
              </a:ext>
            </a:extLst>
          </p:cNvPr>
          <p:cNvSpPr txBox="1"/>
          <p:nvPr/>
        </p:nvSpPr>
        <p:spPr>
          <a:xfrm>
            <a:off x="299720" y="384344"/>
            <a:ext cx="85445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Futura PT Bold" panose="020B0502020204020303" pitchFamily="34" charset="77"/>
              </a:rPr>
              <a:t>Job Hunting is the worst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1859BD-0249-0895-A776-D54B52FD1C85}"/>
              </a:ext>
            </a:extLst>
          </p:cNvPr>
          <p:cNvSpPr txBox="1"/>
          <p:nvPr/>
        </p:nvSpPr>
        <p:spPr>
          <a:xfrm>
            <a:off x="416951" y="1297579"/>
            <a:ext cx="78994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latin typeface="Futura PT Medium" panose="020B0502020204020303" pitchFamily="34" charset="77"/>
              </a:rPr>
              <a:t>Endless searching across too many websites</a:t>
            </a:r>
            <a:endParaRPr lang="en-US" dirty="0">
              <a:latin typeface="Futura PT Medium" panose="020B0502020204020303" pitchFamily="34" charset="7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latin typeface="Futura PT Medium" panose="020B0502020204020303" pitchFamily="34" charset="77"/>
              </a:rPr>
              <a:t>Stale, out-of-date job application links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Futura PT Medium" panose="020B0502020204020303" pitchFamily="34" charset="77"/>
              </a:rPr>
              <a:t>Redundant data entry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Futura PT Medium" panose="020B0502020204020303" pitchFamily="34" charset="77"/>
              </a:rPr>
              <a:t>Hurry up and wait</a:t>
            </a:r>
          </a:p>
        </p:txBody>
      </p:sp>
      <p:pic>
        <p:nvPicPr>
          <p:cNvPr id="5" name="Graphic 4" descr="Sad face outline with solid fill">
            <a:extLst>
              <a:ext uri="{FF2B5EF4-FFF2-40B4-BE49-F238E27FC236}">
                <a16:creationId xmlns:a16="http://schemas.microsoft.com/office/drawing/2014/main" id="{44954225-9960-98F6-74B3-DB284EF233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62888" y="1239018"/>
            <a:ext cx="1597377" cy="1597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36791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AFC890-5F7A-1B89-A112-910A39DA87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C14871B-FBAA-7879-320E-A0FC05AACC77}"/>
              </a:ext>
            </a:extLst>
          </p:cNvPr>
          <p:cNvSpPr txBox="1"/>
          <p:nvPr/>
        </p:nvSpPr>
        <p:spPr>
          <a:xfrm>
            <a:off x="299720" y="384344"/>
            <a:ext cx="85445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Futura PT Bold" panose="020B0502020204020303" pitchFamily="34" charset="77"/>
              </a:rPr>
              <a:t>I can’t help with all that, but…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36214C-2930-2DC2-F33D-E6A894EAF675}"/>
              </a:ext>
            </a:extLst>
          </p:cNvPr>
          <p:cNvSpPr txBox="1"/>
          <p:nvPr/>
        </p:nvSpPr>
        <p:spPr>
          <a:xfrm>
            <a:off x="299720" y="1313210"/>
            <a:ext cx="5175391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latin typeface="Futura PT Medium" panose="020B0502020204020303" pitchFamily="34" charset="77"/>
              </a:rPr>
              <a:t>I can: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latin typeface="Futura PT Medium" panose="020B0502020204020303" pitchFamily="34" charset="77"/>
              </a:rPr>
              <a:t>Encourage you. (Keep going!)</a:t>
            </a:r>
            <a:endParaRPr lang="en-US" dirty="0">
              <a:latin typeface="Futura PT Medium" panose="020B0502020204020303" pitchFamily="34" charset="7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Futura PT Medium" panose="020B0502020204020303" pitchFamily="34" charset="77"/>
              </a:rPr>
              <a:t>R</a:t>
            </a:r>
            <a:r>
              <a:rPr lang="en-US" sz="1800" dirty="0">
                <a:latin typeface="Futura PT Medium" panose="020B0502020204020303" pitchFamily="34" charset="77"/>
              </a:rPr>
              <a:t>eassure you. (You will get through this!)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Futura PT Medium" panose="020B0502020204020303" pitchFamily="34" charset="77"/>
              </a:rPr>
              <a:t>Show you what I’ve learned. (Use this!)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Futura PT Medium" panose="020B0502020204020303" pitchFamily="34" charset="7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Futura PT Medium" panose="020B0502020204020303" pitchFamily="34" charset="77"/>
            </a:endParaRPr>
          </a:p>
          <a:p>
            <a:r>
              <a:rPr lang="en-US" dirty="0">
                <a:latin typeface="Futura PT Medium" panose="020B0502020204020303" pitchFamily="34" charset="77"/>
              </a:rPr>
              <a:t>Most of the interviews I received were through networking. </a:t>
            </a:r>
          </a:p>
          <a:p>
            <a:br>
              <a:rPr lang="en-US" dirty="0">
                <a:latin typeface="Futura PT Medium" panose="020B0502020204020303" pitchFamily="34" charset="77"/>
              </a:rPr>
            </a:br>
            <a:r>
              <a:rPr lang="en-US" dirty="0">
                <a:latin typeface="Futura PT Medium" panose="020B0502020204020303" pitchFamily="34" charset="77"/>
              </a:rPr>
              <a:t>But this method is what actually got me a job. </a:t>
            </a:r>
          </a:p>
        </p:txBody>
      </p:sp>
      <p:pic>
        <p:nvPicPr>
          <p:cNvPr id="5" name="Graphic 4" descr="Smiling face outline with solid fill">
            <a:extLst>
              <a:ext uri="{FF2B5EF4-FFF2-40B4-BE49-F238E27FC236}">
                <a16:creationId xmlns:a16="http://schemas.microsoft.com/office/drawing/2014/main" id="{A05F02F5-B800-DD62-C1A4-05F261BD79C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462889" y="1253190"/>
            <a:ext cx="1597376" cy="1597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80415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6F1DFC-D5D9-1327-B225-CF4202F8B0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76A9082-07F8-0491-CE37-5B957922B20B}"/>
              </a:ext>
            </a:extLst>
          </p:cNvPr>
          <p:cNvSpPr txBox="1"/>
          <p:nvPr/>
        </p:nvSpPr>
        <p:spPr>
          <a:xfrm>
            <a:off x="299720" y="384344"/>
            <a:ext cx="85445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Futura PT Bold" panose="020B0502020204020303" pitchFamily="34" charset="77"/>
              </a:rPr>
              <a:t>This is how I search for jobs: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7F673B2-E3B6-1AE5-748B-0EA8CD0B0489}"/>
              </a:ext>
            </a:extLst>
          </p:cNvPr>
          <p:cNvGrpSpPr/>
          <p:nvPr/>
        </p:nvGrpSpPr>
        <p:grpSpPr>
          <a:xfrm>
            <a:off x="6276224" y="1899827"/>
            <a:ext cx="2834640" cy="1325880"/>
            <a:chOff x="5914683" y="2486926"/>
            <a:chExt cx="2834640" cy="1325880"/>
          </a:xfrm>
        </p:grpSpPr>
        <p:sp>
          <p:nvSpPr>
            <p:cNvPr id="7" name="Shape 4">
              <a:extLst>
                <a:ext uri="{FF2B5EF4-FFF2-40B4-BE49-F238E27FC236}">
                  <a16:creationId xmlns:a16="http://schemas.microsoft.com/office/drawing/2014/main" id="{FD6509AE-581E-0D65-B2FD-12A826BAA05C}"/>
                </a:ext>
              </a:extLst>
            </p:cNvPr>
            <p:cNvSpPr/>
            <p:nvPr/>
          </p:nvSpPr>
          <p:spPr>
            <a:xfrm>
              <a:off x="5914683" y="2486926"/>
              <a:ext cx="2834640" cy="1325880"/>
            </a:xfrm>
            <a:prstGeom prst="roundRect">
              <a:avLst>
                <a:gd name="adj" fmla="val 5517"/>
              </a:avLst>
            </a:prstGeom>
            <a:solidFill>
              <a:srgbClr val="1E2E52"/>
            </a:solidFill>
            <a:ln w="12700">
              <a:solidFill>
                <a:srgbClr val="1E2E5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Shape 5">
              <a:extLst>
                <a:ext uri="{FF2B5EF4-FFF2-40B4-BE49-F238E27FC236}">
                  <a16:creationId xmlns:a16="http://schemas.microsoft.com/office/drawing/2014/main" id="{3682E741-C55B-3D19-FFD8-F366B780102C}"/>
                </a:ext>
              </a:extLst>
            </p:cNvPr>
            <p:cNvSpPr/>
            <p:nvPr/>
          </p:nvSpPr>
          <p:spPr>
            <a:xfrm>
              <a:off x="6115851" y="2761246"/>
              <a:ext cx="731520" cy="731520"/>
            </a:xfrm>
            <a:prstGeom prst="ellipse">
              <a:avLst/>
            </a:prstGeom>
            <a:solidFill>
              <a:srgbClr val="E09F3E"/>
            </a:solidFill>
            <a:ln w="12700">
              <a:solidFill>
                <a:srgbClr val="E09F3E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9" name="Image 0" descr="preencoded.png">
              <a:extLst>
                <a:ext uri="{FF2B5EF4-FFF2-40B4-BE49-F238E27FC236}">
                  <a16:creationId xmlns:a16="http://schemas.microsoft.com/office/drawing/2014/main" id="{F8B75994-51EC-F6FA-1A7F-74CF4BFC55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306046" y="2951441"/>
              <a:ext cx="351130" cy="351130"/>
            </a:xfrm>
            <a:prstGeom prst="rect">
              <a:avLst/>
            </a:prstGeom>
          </p:spPr>
        </p:pic>
        <p:sp>
          <p:nvSpPr>
            <p:cNvPr id="10" name="Text 6">
              <a:extLst>
                <a:ext uri="{FF2B5EF4-FFF2-40B4-BE49-F238E27FC236}">
                  <a16:creationId xmlns:a16="http://schemas.microsoft.com/office/drawing/2014/main" id="{EB7D241D-C7A3-7D21-98BE-17A5765A5240}"/>
                </a:ext>
              </a:extLst>
            </p:cNvPr>
            <p:cNvSpPr txBox="1"/>
            <p:nvPr/>
          </p:nvSpPr>
          <p:spPr>
            <a:xfrm>
              <a:off x="7011963" y="2688094"/>
              <a:ext cx="164592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8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resumeStart</a:t>
              </a:r>
              <a:endParaRPr lang="en-US" sz="1800" dirty="0"/>
            </a:p>
          </p:txBody>
        </p:sp>
        <p:sp>
          <p:nvSpPr>
            <p:cNvPr id="11" name="Text 7">
              <a:extLst>
                <a:ext uri="{FF2B5EF4-FFF2-40B4-BE49-F238E27FC236}">
                  <a16:creationId xmlns:a16="http://schemas.microsoft.com/office/drawing/2014/main" id="{DAD3B51F-470B-6438-3E98-89BFBF80AF18}"/>
                </a:ext>
              </a:extLst>
            </p:cNvPr>
            <p:cNvSpPr txBox="1"/>
            <p:nvPr/>
          </p:nvSpPr>
          <p:spPr>
            <a:xfrm>
              <a:off x="7011963" y="3051729"/>
              <a:ext cx="1572615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en-US" sz="1150" dirty="0">
                  <a:solidFill>
                    <a:srgbClr val="C9D1E0"/>
                  </a:solidFill>
                  <a:latin typeface="Calibri" pitchFamily="34" charset="0"/>
                  <a:cs typeface="Calibri" pitchFamily="34" charset="-120"/>
                </a:rPr>
                <a:t>“Use </a:t>
              </a:r>
              <a:r>
                <a:rPr lang="en-US" sz="1150" dirty="0" err="1">
                  <a:solidFill>
                    <a:srgbClr val="C9D1E0"/>
                  </a:solidFill>
                  <a:latin typeface="Calibri" pitchFamily="34" charset="0"/>
                  <a:cs typeface="Calibri" pitchFamily="34" charset="-120"/>
                </a:rPr>
                <a:t>resumeStart</a:t>
              </a:r>
              <a:r>
                <a:rPr lang="en-US" sz="1150" dirty="0">
                  <a:solidFill>
                    <a:srgbClr val="C9D1E0"/>
                  </a:solidFill>
                  <a:latin typeface="Calibri" pitchFamily="34" charset="0"/>
                  <a:cs typeface="Calibri" pitchFamily="34" charset="-120"/>
                </a:rPr>
                <a:t> to for &lt;insert job post&gt;</a:t>
              </a:r>
              <a:r>
                <a:rPr lang="en-US" sz="1200" dirty="0">
                  <a:solidFill>
                    <a:schemeClr val="bg1"/>
                  </a:solidFill>
                  <a:latin typeface="Calibri" pitchFamily="34" charset="0"/>
                  <a:cs typeface="Calibri" pitchFamily="34" charset="-120"/>
                </a:rPr>
                <a:t>”</a:t>
              </a:r>
              <a:endParaRPr lang="en-US" sz="10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0A53D8C-26E2-F4D5-D218-68CA4E34ECC5}"/>
              </a:ext>
            </a:extLst>
          </p:cNvPr>
          <p:cNvGrpSpPr/>
          <p:nvPr/>
        </p:nvGrpSpPr>
        <p:grpSpPr>
          <a:xfrm>
            <a:off x="3251389" y="1908809"/>
            <a:ext cx="2834640" cy="1325880"/>
            <a:chOff x="5920967" y="953477"/>
            <a:chExt cx="2834640" cy="1325880"/>
          </a:xfrm>
        </p:grpSpPr>
        <p:sp>
          <p:nvSpPr>
            <p:cNvPr id="13" name="Shape 8">
              <a:extLst>
                <a:ext uri="{FF2B5EF4-FFF2-40B4-BE49-F238E27FC236}">
                  <a16:creationId xmlns:a16="http://schemas.microsoft.com/office/drawing/2014/main" id="{5D4F8A2F-7796-F08F-D466-87223D61D5F5}"/>
                </a:ext>
              </a:extLst>
            </p:cNvPr>
            <p:cNvSpPr/>
            <p:nvPr/>
          </p:nvSpPr>
          <p:spPr>
            <a:xfrm>
              <a:off x="5920967" y="953477"/>
              <a:ext cx="2834640" cy="1325880"/>
            </a:xfrm>
            <a:prstGeom prst="roundRect">
              <a:avLst>
                <a:gd name="adj" fmla="val 5517"/>
              </a:avLst>
            </a:prstGeom>
            <a:solidFill>
              <a:srgbClr val="1E2E52"/>
            </a:solidFill>
            <a:ln w="12700">
              <a:solidFill>
                <a:srgbClr val="1E2E5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Shape 9">
              <a:extLst>
                <a:ext uri="{FF2B5EF4-FFF2-40B4-BE49-F238E27FC236}">
                  <a16:creationId xmlns:a16="http://schemas.microsoft.com/office/drawing/2014/main" id="{8A1F40E8-3866-1CFD-176C-4CBDFB2FB524}"/>
                </a:ext>
              </a:extLst>
            </p:cNvPr>
            <p:cNvSpPr/>
            <p:nvPr/>
          </p:nvSpPr>
          <p:spPr>
            <a:xfrm>
              <a:off x="6122135" y="1227797"/>
              <a:ext cx="731520" cy="731520"/>
            </a:xfrm>
            <a:prstGeom prst="ellipse">
              <a:avLst/>
            </a:prstGeom>
            <a:solidFill>
              <a:srgbClr val="2A9D8F"/>
            </a:solidFill>
            <a:ln w="12700">
              <a:solidFill>
                <a:srgbClr val="2A9D8F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15" name="Image 1" descr="preencoded.png">
              <a:extLst>
                <a:ext uri="{FF2B5EF4-FFF2-40B4-BE49-F238E27FC236}">
                  <a16:creationId xmlns:a16="http://schemas.microsoft.com/office/drawing/2014/main" id="{C3B50F1B-F7E3-CAEF-DA39-2AE81372277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312330" y="1417992"/>
              <a:ext cx="351130" cy="351130"/>
            </a:xfrm>
            <a:prstGeom prst="rect">
              <a:avLst/>
            </a:prstGeom>
          </p:spPr>
        </p:pic>
        <p:sp>
          <p:nvSpPr>
            <p:cNvPr id="16" name="Text 10">
              <a:extLst>
                <a:ext uri="{FF2B5EF4-FFF2-40B4-BE49-F238E27FC236}">
                  <a16:creationId xmlns:a16="http://schemas.microsoft.com/office/drawing/2014/main" id="{4F788FD9-F31B-F06C-6637-1A619DC914AE}"/>
                </a:ext>
              </a:extLst>
            </p:cNvPr>
            <p:cNvSpPr txBox="1"/>
            <p:nvPr/>
          </p:nvSpPr>
          <p:spPr>
            <a:xfrm>
              <a:off x="7018247" y="1154645"/>
              <a:ext cx="164592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8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jobSearch</a:t>
              </a:r>
              <a:endParaRPr lang="en-US" sz="1800" dirty="0"/>
            </a:p>
          </p:txBody>
        </p:sp>
        <p:sp>
          <p:nvSpPr>
            <p:cNvPr id="17" name="Text 11">
              <a:extLst>
                <a:ext uri="{FF2B5EF4-FFF2-40B4-BE49-F238E27FC236}">
                  <a16:creationId xmlns:a16="http://schemas.microsoft.com/office/drawing/2014/main" id="{718BFB97-8E68-5C02-CA23-24DCB5B23252}"/>
                </a:ext>
              </a:extLst>
            </p:cNvPr>
            <p:cNvSpPr txBox="1"/>
            <p:nvPr/>
          </p:nvSpPr>
          <p:spPr>
            <a:xfrm>
              <a:off x="7018247" y="1538693"/>
              <a:ext cx="164592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en-US" sz="1150" dirty="0">
                  <a:solidFill>
                    <a:srgbClr val="C9D1E0"/>
                  </a:solidFill>
                  <a:latin typeface="Calibri" pitchFamily="34" charset="0"/>
                  <a:cs typeface="Calibri" pitchFamily="34" charset="-120"/>
                </a:rPr>
                <a:t>“Use </a:t>
              </a:r>
              <a:r>
                <a:rPr lang="en-US" sz="1150" dirty="0" err="1">
                  <a:solidFill>
                    <a:srgbClr val="C9D1E0"/>
                  </a:solidFill>
                  <a:latin typeface="Calibri" pitchFamily="34" charset="0"/>
                  <a:cs typeface="Calibri" pitchFamily="34" charset="-120"/>
                </a:rPr>
                <a:t>jobSearch</a:t>
              </a:r>
              <a:r>
                <a:rPr lang="en-US" sz="1150" dirty="0">
                  <a:solidFill>
                    <a:srgbClr val="C9D1E0"/>
                  </a:solidFill>
                  <a:latin typeface="Calibri" pitchFamily="34" charset="0"/>
                  <a:cs typeface="Calibri" pitchFamily="34" charset="-120"/>
                </a:rPr>
                <a:t> to find 5 jobs to apply for</a:t>
              </a:r>
              <a:r>
                <a:rPr lang="en-US" sz="1200" dirty="0">
                  <a:solidFill>
                    <a:schemeClr val="bg1"/>
                  </a:solidFill>
                  <a:latin typeface="Calibri" pitchFamily="34" charset="0"/>
                  <a:cs typeface="Calibri" pitchFamily="34" charset="-120"/>
                </a:rPr>
                <a:t>”</a:t>
              </a:r>
              <a:endParaRPr lang="en-US" sz="10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4BF63066-2761-D3A0-1094-58FDBAB44AF2}"/>
              </a:ext>
            </a:extLst>
          </p:cNvPr>
          <p:cNvGrpSpPr/>
          <p:nvPr/>
        </p:nvGrpSpPr>
        <p:grpSpPr>
          <a:xfrm>
            <a:off x="197881" y="1908809"/>
            <a:ext cx="2834640" cy="1325880"/>
            <a:chOff x="197881" y="3433276"/>
            <a:chExt cx="2834640" cy="1325880"/>
          </a:xfrm>
        </p:grpSpPr>
        <p:sp>
          <p:nvSpPr>
            <p:cNvPr id="19" name="Shape 8">
              <a:extLst>
                <a:ext uri="{FF2B5EF4-FFF2-40B4-BE49-F238E27FC236}">
                  <a16:creationId xmlns:a16="http://schemas.microsoft.com/office/drawing/2014/main" id="{86CAEA03-76DB-1321-83D8-6029FC009A3B}"/>
                </a:ext>
              </a:extLst>
            </p:cNvPr>
            <p:cNvSpPr/>
            <p:nvPr/>
          </p:nvSpPr>
          <p:spPr>
            <a:xfrm>
              <a:off x="197881" y="3433276"/>
              <a:ext cx="2834640" cy="1325880"/>
            </a:xfrm>
            <a:prstGeom prst="roundRect">
              <a:avLst>
                <a:gd name="adj" fmla="val 5517"/>
              </a:avLst>
            </a:prstGeom>
            <a:solidFill>
              <a:srgbClr val="1E2E52"/>
            </a:solidFill>
            <a:ln w="12700">
              <a:solidFill>
                <a:srgbClr val="1E2E5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 10">
              <a:extLst>
                <a:ext uri="{FF2B5EF4-FFF2-40B4-BE49-F238E27FC236}">
                  <a16:creationId xmlns:a16="http://schemas.microsoft.com/office/drawing/2014/main" id="{C07DAB0B-6B9C-18A5-1AA7-0B7D14AC7252}"/>
                </a:ext>
              </a:extLst>
            </p:cNvPr>
            <p:cNvSpPr txBox="1"/>
            <p:nvPr/>
          </p:nvSpPr>
          <p:spPr>
            <a:xfrm>
              <a:off x="1295161" y="3634444"/>
              <a:ext cx="164592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b="1" dirty="0">
                  <a:solidFill>
                    <a:srgbClr val="FFFFFF"/>
                  </a:solidFill>
                  <a:latin typeface="Calibri" pitchFamily="34" charset="0"/>
                  <a:cs typeface="Calibri" pitchFamily="34" charset="-120"/>
                </a:rPr>
                <a:t>Claude</a:t>
              </a:r>
              <a:endParaRPr lang="en-US" sz="1800" dirty="0"/>
            </a:p>
          </p:txBody>
        </p:sp>
        <p:sp>
          <p:nvSpPr>
            <p:cNvPr id="23" name="Text 11">
              <a:extLst>
                <a:ext uri="{FF2B5EF4-FFF2-40B4-BE49-F238E27FC236}">
                  <a16:creationId xmlns:a16="http://schemas.microsoft.com/office/drawing/2014/main" id="{9EC9A6A0-A373-E20A-BDF2-465EB1267CF0}"/>
                </a:ext>
              </a:extLst>
            </p:cNvPr>
            <p:cNvSpPr txBox="1"/>
            <p:nvPr/>
          </p:nvSpPr>
          <p:spPr>
            <a:xfrm>
              <a:off x="1295161" y="4018492"/>
              <a:ext cx="164592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150" dirty="0">
                  <a:solidFill>
                    <a:srgbClr val="C9D1E0"/>
                  </a:solidFill>
                  <a:latin typeface="Calibri" pitchFamily="34" charset="0"/>
                  <a:cs typeface="Calibri" pitchFamily="34" charset="-120"/>
                </a:rPr>
                <a:t>Launch Claude. ($20/month)</a:t>
              </a:r>
              <a:endParaRPr lang="en-US" sz="1150" dirty="0"/>
            </a:p>
          </p:txBody>
        </p:sp>
        <p:pic>
          <p:nvPicPr>
            <p:cNvPr id="3" name="Picture 2" descr="File:Claude-ai-icon.svg - Wikimedia Commons">
              <a:extLst>
                <a:ext uri="{FF2B5EF4-FFF2-40B4-BE49-F238E27FC236}">
                  <a16:creationId xmlns:a16="http://schemas.microsoft.com/office/drawing/2014/main" id="{943FB84D-872D-B674-1A1F-E24B3AF4975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flipH="1">
              <a:off x="373676" y="3647394"/>
              <a:ext cx="745691" cy="742196"/>
            </a:xfrm>
            <a:prstGeom prst="rect">
              <a:avLst/>
            </a:prstGeom>
          </p:spPr>
        </p:pic>
      </p:grpSp>
      <p:sp>
        <p:nvSpPr>
          <p:cNvPr id="25" name="Curved Up Arrow 24">
            <a:extLst>
              <a:ext uri="{FF2B5EF4-FFF2-40B4-BE49-F238E27FC236}">
                <a16:creationId xmlns:a16="http://schemas.microsoft.com/office/drawing/2014/main" id="{3AB2EAF1-EB59-A261-65AB-2A28BCC79340}"/>
              </a:ext>
            </a:extLst>
          </p:cNvPr>
          <p:cNvSpPr/>
          <p:nvPr/>
        </p:nvSpPr>
        <p:spPr>
          <a:xfrm>
            <a:off x="1325641" y="3350228"/>
            <a:ext cx="3561319" cy="701040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6" name="Curved Up Arrow 25">
            <a:extLst>
              <a:ext uri="{FF2B5EF4-FFF2-40B4-BE49-F238E27FC236}">
                <a16:creationId xmlns:a16="http://schemas.microsoft.com/office/drawing/2014/main" id="{F9CA6E89-BD21-3BFC-C538-11CC271970BA}"/>
              </a:ext>
            </a:extLst>
          </p:cNvPr>
          <p:cNvSpPr/>
          <p:nvPr/>
        </p:nvSpPr>
        <p:spPr>
          <a:xfrm flipV="1">
            <a:off x="4572000" y="1223932"/>
            <a:ext cx="3378436" cy="563880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004794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9AB6273-014A-8032-926E-E51BCBCD37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E3F1538-B6FD-4FD4-4ACE-7401A4C25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5334" y="1092230"/>
            <a:ext cx="4847970" cy="156157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50A1CB5-2C94-98D1-A974-2F48772E0F77}"/>
              </a:ext>
            </a:extLst>
          </p:cNvPr>
          <p:cNvSpPr txBox="1"/>
          <p:nvPr/>
        </p:nvSpPr>
        <p:spPr>
          <a:xfrm>
            <a:off x="299720" y="384344"/>
            <a:ext cx="85445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Futura PT Bold" panose="020B0502020204020303" pitchFamily="34" charset="77"/>
              </a:rPr>
              <a:t>First, I search for jobs:</a:t>
            </a:r>
          </a:p>
        </p:txBody>
      </p:sp>
      <p:pic>
        <p:nvPicPr>
          <p:cNvPr id="4" name="Image 0" descr="/home/claude/deck/real_chat.png">
            <a:extLst>
              <a:ext uri="{FF2B5EF4-FFF2-40B4-BE49-F238E27FC236}">
                <a16:creationId xmlns:a16="http://schemas.microsoft.com/office/drawing/2014/main" id="{06AB27B7-9F18-82D3-953A-47F5C9ED2E4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42773"/>
          <a:stretch>
            <a:fillRect/>
          </a:stretch>
        </p:blipFill>
        <p:spPr>
          <a:xfrm>
            <a:off x="3565333" y="2653800"/>
            <a:ext cx="4847971" cy="2440232"/>
          </a:xfrm>
          <a:prstGeom prst="rect">
            <a:avLst/>
          </a:prstGeom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44CD1586-0C8C-D938-CD7A-734904F4541D}"/>
              </a:ext>
            </a:extLst>
          </p:cNvPr>
          <p:cNvGrpSpPr/>
          <p:nvPr/>
        </p:nvGrpSpPr>
        <p:grpSpPr>
          <a:xfrm>
            <a:off x="299719" y="1092230"/>
            <a:ext cx="2834640" cy="1325880"/>
            <a:chOff x="5920967" y="953477"/>
            <a:chExt cx="2834640" cy="1325880"/>
          </a:xfrm>
        </p:grpSpPr>
        <p:sp>
          <p:nvSpPr>
            <p:cNvPr id="27" name="Shape 8">
              <a:extLst>
                <a:ext uri="{FF2B5EF4-FFF2-40B4-BE49-F238E27FC236}">
                  <a16:creationId xmlns:a16="http://schemas.microsoft.com/office/drawing/2014/main" id="{F09A60B1-E9A0-0F60-DBC5-B664A9A52526}"/>
                </a:ext>
              </a:extLst>
            </p:cNvPr>
            <p:cNvSpPr/>
            <p:nvPr/>
          </p:nvSpPr>
          <p:spPr>
            <a:xfrm>
              <a:off x="5920967" y="953477"/>
              <a:ext cx="2834640" cy="1325880"/>
            </a:xfrm>
            <a:prstGeom prst="roundRect">
              <a:avLst>
                <a:gd name="adj" fmla="val 5517"/>
              </a:avLst>
            </a:prstGeom>
            <a:solidFill>
              <a:srgbClr val="1E2E52"/>
            </a:solidFill>
            <a:ln w="12700">
              <a:solidFill>
                <a:srgbClr val="1E2E5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Shape 9">
              <a:extLst>
                <a:ext uri="{FF2B5EF4-FFF2-40B4-BE49-F238E27FC236}">
                  <a16:creationId xmlns:a16="http://schemas.microsoft.com/office/drawing/2014/main" id="{A2C869E7-F40B-C2BB-A2D0-ECF3D62987E8}"/>
                </a:ext>
              </a:extLst>
            </p:cNvPr>
            <p:cNvSpPr/>
            <p:nvPr/>
          </p:nvSpPr>
          <p:spPr>
            <a:xfrm>
              <a:off x="6122135" y="1227797"/>
              <a:ext cx="731520" cy="731520"/>
            </a:xfrm>
            <a:prstGeom prst="ellipse">
              <a:avLst/>
            </a:prstGeom>
            <a:solidFill>
              <a:srgbClr val="2A9D8F"/>
            </a:solidFill>
            <a:ln w="12700">
              <a:solidFill>
                <a:srgbClr val="2A9D8F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29" name="Image 1" descr="preencoded.png">
              <a:extLst>
                <a:ext uri="{FF2B5EF4-FFF2-40B4-BE49-F238E27FC236}">
                  <a16:creationId xmlns:a16="http://schemas.microsoft.com/office/drawing/2014/main" id="{F020AA49-8520-A928-D5A8-E6F09E5AD72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312330" y="1417992"/>
              <a:ext cx="351130" cy="351130"/>
            </a:xfrm>
            <a:prstGeom prst="rect">
              <a:avLst/>
            </a:prstGeom>
          </p:spPr>
        </p:pic>
        <p:sp>
          <p:nvSpPr>
            <p:cNvPr id="30" name="Text 10">
              <a:extLst>
                <a:ext uri="{FF2B5EF4-FFF2-40B4-BE49-F238E27FC236}">
                  <a16:creationId xmlns:a16="http://schemas.microsoft.com/office/drawing/2014/main" id="{52FE4EA9-A18A-2B12-64D2-B3545738B3E8}"/>
                </a:ext>
              </a:extLst>
            </p:cNvPr>
            <p:cNvSpPr txBox="1"/>
            <p:nvPr/>
          </p:nvSpPr>
          <p:spPr>
            <a:xfrm>
              <a:off x="7018247" y="1154645"/>
              <a:ext cx="164592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8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jobSearch</a:t>
              </a:r>
              <a:endParaRPr lang="en-US" sz="1800" dirty="0"/>
            </a:p>
          </p:txBody>
        </p:sp>
        <p:sp>
          <p:nvSpPr>
            <p:cNvPr id="31" name="Text 11">
              <a:extLst>
                <a:ext uri="{FF2B5EF4-FFF2-40B4-BE49-F238E27FC236}">
                  <a16:creationId xmlns:a16="http://schemas.microsoft.com/office/drawing/2014/main" id="{314D8EEB-AFD2-9D11-FC0C-9648C9E78B65}"/>
                </a:ext>
              </a:extLst>
            </p:cNvPr>
            <p:cNvSpPr txBox="1"/>
            <p:nvPr/>
          </p:nvSpPr>
          <p:spPr>
            <a:xfrm>
              <a:off x="7018247" y="1538693"/>
              <a:ext cx="164592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en-US" sz="1150" dirty="0">
                  <a:solidFill>
                    <a:srgbClr val="C9D1E0"/>
                  </a:solidFill>
                  <a:latin typeface="Calibri" pitchFamily="34" charset="0"/>
                  <a:cs typeface="Calibri" pitchFamily="34" charset="-120"/>
                </a:rPr>
                <a:t>“Use </a:t>
              </a:r>
              <a:r>
                <a:rPr lang="en-US" sz="1150" dirty="0" err="1">
                  <a:solidFill>
                    <a:srgbClr val="C9D1E0"/>
                  </a:solidFill>
                  <a:latin typeface="Calibri" pitchFamily="34" charset="0"/>
                  <a:cs typeface="Calibri" pitchFamily="34" charset="-120"/>
                </a:rPr>
                <a:t>jobSearch</a:t>
              </a:r>
              <a:r>
                <a:rPr lang="en-US" sz="1150" dirty="0">
                  <a:solidFill>
                    <a:srgbClr val="C9D1E0"/>
                  </a:solidFill>
                  <a:latin typeface="Calibri" pitchFamily="34" charset="0"/>
                  <a:cs typeface="Calibri" pitchFamily="34" charset="-120"/>
                </a:rPr>
                <a:t> to find 5 jobs to apply for</a:t>
              </a:r>
              <a:r>
                <a:rPr lang="en-US" sz="1200" dirty="0">
                  <a:solidFill>
                    <a:schemeClr val="bg1"/>
                  </a:solidFill>
                  <a:latin typeface="Calibri" pitchFamily="34" charset="0"/>
                  <a:cs typeface="Calibri" pitchFamily="34" charset="-120"/>
                </a:rPr>
                <a:t>”</a:t>
              </a:r>
              <a:endParaRPr lang="en-US" sz="1000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121793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F1C289-7BBB-AE49-8C4D-5B99F8065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DEF2E42-493E-2411-E050-EBBBA9C78FB7}"/>
              </a:ext>
            </a:extLst>
          </p:cNvPr>
          <p:cNvSpPr txBox="1"/>
          <p:nvPr/>
        </p:nvSpPr>
        <p:spPr>
          <a:xfrm>
            <a:off x="299720" y="384344"/>
            <a:ext cx="85445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Futura PT Bold" panose="020B0502020204020303" pitchFamily="34" charset="77"/>
              </a:rPr>
              <a:t>Then, I convert posts to resumes: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5A971BB-9046-6BD8-2FB8-08C7DD67F1AA}"/>
              </a:ext>
            </a:extLst>
          </p:cNvPr>
          <p:cNvGrpSpPr/>
          <p:nvPr/>
        </p:nvGrpSpPr>
        <p:grpSpPr>
          <a:xfrm>
            <a:off x="418737" y="1197214"/>
            <a:ext cx="2834640" cy="1325880"/>
            <a:chOff x="5914683" y="2486926"/>
            <a:chExt cx="2834640" cy="1325880"/>
          </a:xfrm>
        </p:grpSpPr>
        <p:sp>
          <p:nvSpPr>
            <p:cNvPr id="7" name="Shape 4">
              <a:extLst>
                <a:ext uri="{FF2B5EF4-FFF2-40B4-BE49-F238E27FC236}">
                  <a16:creationId xmlns:a16="http://schemas.microsoft.com/office/drawing/2014/main" id="{C3514111-68F8-BB76-FC6C-DAFB1D0F64E3}"/>
                </a:ext>
              </a:extLst>
            </p:cNvPr>
            <p:cNvSpPr/>
            <p:nvPr/>
          </p:nvSpPr>
          <p:spPr>
            <a:xfrm>
              <a:off x="5914683" y="2486926"/>
              <a:ext cx="2834640" cy="1325880"/>
            </a:xfrm>
            <a:prstGeom prst="roundRect">
              <a:avLst>
                <a:gd name="adj" fmla="val 5517"/>
              </a:avLst>
            </a:prstGeom>
            <a:solidFill>
              <a:srgbClr val="1E2E52"/>
            </a:solidFill>
            <a:ln w="12700">
              <a:solidFill>
                <a:srgbClr val="1E2E5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Shape 5">
              <a:extLst>
                <a:ext uri="{FF2B5EF4-FFF2-40B4-BE49-F238E27FC236}">
                  <a16:creationId xmlns:a16="http://schemas.microsoft.com/office/drawing/2014/main" id="{B95776D8-77F2-587B-293D-655C4C43B6FA}"/>
                </a:ext>
              </a:extLst>
            </p:cNvPr>
            <p:cNvSpPr/>
            <p:nvPr/>
          </p:nvSpPr>
          <p:spPr>
            <a:xfrm>
              <a:off x="6115851" y="2761246"/>
              <a:ext cx="731520" cy="731520"/>
            </a:xfrm>
            <a:prstGeom prst="ellipse">
              <a:avLst/>
            </a:prstGeom>
            <a:solidFill>
              <a:srgbClr val="E09F3E"/>
            </a:solidFill>
            <a:ln w="12700">
              <a:solidFill>
                <a:srgbClr val="E09F3E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9" name="Image 0" descr="preencoded.png">
              <a:extLst>
                <a:ext uri="{FF2B5EF4-FFF2-40B4-BE49-F238E27FC236}">
                  <a16:creationId xmlns:a16="http://schemas.microsoft.com/office/drawing/2014/main" id="{85510817-0996-2776-BCBB-2B26F7023FB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306046" y="2951441"/>
              <a:ext cx="351130" cy="351130"/>
            </a:xfrm>
            <a:prstGeom prst="rect">
              <a:avLst/>
            </a:prstGeom>
          </p:spPr>
        </p:pic>
        <p:sp>
          <p:nvSpPr>
            <p:cNvPr id="10" name="Text 6">
              <a:extLst>
                <a:ext uri="{FF2B5EF4-FFF2-40B4-BE49-F238E27FC236}">
                  <a16:creationId xmlns:a16="http://schemas.microsoft.com/office/drawing/2014/main" id="{1EA93416-237E-B2CE-9062-6BD8656C470C}"/>
                </a:ext>
              </a:extLst>
            </p:cNvPr>
            <p:cNvSpPr txBox="1"/>
            <p:nvPr/>
          </p:nvSpPr>
          <p:spPr>
            <a:xfrm>
              <a:off x="7011963" y="2688094"/>
              <a:ext cx="164592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8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resumeStart</a:t>
              </a:r>
              <a:endParaRPr lang="en-US" sz="1800" dirty="0"/>
            </a:p>
          </p:txBody>
        </p:sp>
        <p:sp>
          <p:nvSpPr>
            <p:cNvPr id="11" name="Text 7">
              <a:extLst>
                <a:ext uri="{FF2B5EF4-FFF2-40B4-BE49-F238E27FC236}">
                  <a16:creationId xmlns:a16="http://schemas.microsoft.com/office/drawing/2014/main" id="{FFDCEAAF-3658-FDF2-6EE3-E94EA7DCF1D3}"/>
                </a:ext>
              </a:extLst>
            </p:cNvPr>
            <p:cNvSpPr txBox="1"/>
            <p:nvPr/>
          </p:nvSpPr>
          <p:spPr>
            <a:xfrm>
              <a:off x="7011963" y="3051729"/>
              <a:ext cx="1572615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en-US" sz="1150" dirty="0">
                  <a:solidFill>
                    <a:srgbClr val="C9D1E0"/>
                  </a:solidFill>
                  <a:latin typeface="Calibri" pitchFamily="34" charset="0"/>
                  <a:cs typeface="Calibri" pitchFamily="34" charset="-120"/>
                </a:rPr>
                <a:t>“Use </a:t>
              </a:r>
              <a:r>
                <a:rPr lang="en-US" sz="1150" dirty="0" err="1">
                  <a:solidFill>
                    <a:srgbClr val="C9D1E0"/>
                  </a:solidFill>
                  <a:latin typeface="Calibri" pitchFamily="34" charset="0"/>
                  <a:cs typeface="Calibri" pitchFamily="34" charset="-120"/>
                </a:rPr>
                <a:t>resumeStart</a:t>
              </a:r>
              <a:r>
                <a:rPr lang="en-US" sz="1150" dirty="0">
                  <a:solidFill>
                    <a:srgbClr val="C9D1E0"/>
                  </a:solidFill>
                  <a:latin typeface="Calibri" pitchFamily="34" charset="0"/>
                  <a:cs typeface="Calibri" pitchFamily="34" charset="-120"/>
                </a:rPr>
                <a:t> to for &lt;insert job post&gt;</a:t>
              </a:r>
              <a:r>
                <a:rPr lang="en-US" sz="1200" dirty="0">
                  <a:solidFill>
                    <a:schemeClr val="bg1"/>
                  </a:solidFill>
                  <a:latin typeface="Calibri" pitchFamily="34" charset="0"/>
                  <a:cs typeface="Calibri" pitchFamily="34" charset="-120"/>
                </a:rPr>
                <a:t>”</a:t>
              </a:r>
              <a:endParaRPr lang="en-US" sz="1000" dirty="0">
                <a:solidFill>
                  <a:schemeClr val="bg1"/>
                </a:solidFill>
              </a:endParaRPr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6EE0E046-18F7-1484-CBF7-7EFE6FC646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8737" y="2820125"/>
            <a:ext cx="2845378" cy="123299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565667F-0C89-A0C7-7589-E3712E6645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65284" y="1197214"/>
            <a:ext cx="5058812" cy="2866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59126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B6B908-AB80-F181-6B00-894485ABFF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75C31D2-8B2E-16EE-4B25-9AB9C6025763}"/>
              </a:ext>
            </a:extLst>
          </p:cNvPr>
          <p:cNvSpPr txBox="1"/>
          <p:nvPr/>
        </p:nvSpPr>
        <p:spPr>
          <a:xfrm>
            <a:off x="299720" y="384344"/>
            <a:ext cx="85445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latin typeface="Futura PT Medium" panose="020B0502020204020303" pitchFamily="34" charset="77"/>
              </a:rPr>
              <a:t>This method is not magic: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BCCBB9-DDD2-272F-09D7-B7F983C68891}"/>
              </a:ext>
            </a:extLst>
          </p:cNvPr>
          <p:cNvSpPr txBox="1"/>
          <p:nvPr/>
        </p:nvSpPr>
        <p:spPr>
          <a:xfrm>
            <a:off x="299720" y="1065837"/>
            <a:ext cx="5955306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latin typeface="Futura PT Medium" panose="020B0502020204020303" pitchFamily="34" charset="77"/>
              </a:rPr>
              <a:t>Treat this as a supplemental job searc</a:t>
            </a:r>
            <a:r>
              <a:rPr lang="en-US" dirty="0">
                <a:latin typeface="Futura PT Medium" panose="020B0502020204020303" pitchFamily="34" charset="77"/>
              </a:rPr>
              <a:t>h and application tool. It isn’t automatic</a:t>
            </a:r>
            <a:r>
              <a:rPr lang="en-US" sz="1800" dirty="0">
                <a:latin typeface="Futura PT Medium" panose="020B0502020204020303" pitchFamily="34" charset="77"/>
              </a:rPr>
              <a:t>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Futura PT Medium" panose="020B0502020204020303" pitchFamily="34" charset="77"/>
              </a:rPr>
              <a:t>Do not stop networking. This helps, but most of my opportunities came from my network.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Futura PT Medium" panose="020B0502020204020303" pitchFamily="34" charset="77"/>
              </a:rPr>
              <a:t>Don’t blindly trust it.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Futura PT Medium" panose="020B0502020204020303" pitchFamily="34" charset="77"/>
              </a:rPr>
              <a:t>Don’t submit slop.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Futura PT Medium" panose="020B0502020204020303" pitchFamily="34" charset="77"/>
              </a:rPr>
              <a:t>Always proofread whatever you submit. It’s rare, but it will hallucinate qualifications.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Futura PT Medium" panose="020B0502020204020303" pitchFamily="34" charset="77"/>
              </a:rPr>
              <a:t>Sometimes the validation links fail. Update as is relevant. </a:t>
            </a:r>
          </a:p>
          <a:p>
            <a:endParaRPr lang="en-US" dirty="0">
              <a:latin typeface="Futura PT Medium" panose="020B0502020204020303" pitchFamily="34" charset="77"/>
            </a:endParaRPr>
          </a:p>
          <a:p>
            <a:r>
              <a:rPr lang="en-US" dirty="0">
                <a:latin typeface="Futura PT Medium" panose="020B0502020204020303" pitchFamily="34" charset="77"/>
              </a:rPr>
              <a:t>(It will get you started though!)</a:t>
            </a:r>
          </a:p>
        </p:txBody>
      </p:sp>
      <p:pic>
        <p:nvPicPr>
          <p:cNvPr id="5" name="Graphic 4" descr="Warning outline">
            <a:extLst>
              <a:ext uri="{FF2B5EF4-FFF2-40B4-BE49-F238E27FC236}">
                <a16:creationId xmlns:a16="http://schemas.microsoft.com/office/drawing/2014/main" id="{5E4F7D0D-354A-0E2C-EE72-36418511B93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370071" y="1092230"/>
            <a:ext cx="2359164" cy="2359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80468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FB200C-474C-9BBD-D2D1-B41CF4235A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5B79765-356C-3B49-695A-60EA87F2D3ED}"/>
              </a:ext>
            </a:extLst>
          </p:cNvPr>
          <p:cNvSpPr txBox="1"/>
          <p:nvPr/>
        </p:nvSpPr>
        <p:spPr>
          <a:xfrm>
            <a:off x="299720" y="384344"/>
            <a:ext cx="85445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latin typeface="Futura PT Medium" panose="020B0502020204020303" pitchFamily="34" charset="77"/>
              </a:rPr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25395790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299720" y="330000"/>
            <a:ext cx="8544560" cy="64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Futura PT Bold" panose="020B0502020204020303" pitchFamily="34" charset="77"/>
              </a:rPr>
              <a:t>Step 1 — Ask jobSearch</a:t>
            </a:r>
          </a:p>
        </p:txBody>
      </p:sp>
      <p:sp>
        <p:nvSpPr>
          <p:cNvPr id="10" name="Shape 10"/>
          <p:cNvSpPr/>
          <p:nvPr/>
        </p:nvSpPr>
        <p:spPr>
          <a:xfrm>
            <a:off x="299719" y="1200000"/>
            <a:ext cx="2834640" cy="2600000"/>
          </a:xfrm>
          <a:prstGeom prst="roundRect">
            <a:avLst/>
          </a:prstGeom>
          <a:solidFill>
            <a:srgbClr val="1E2E52"/>
          </a:solidFill>
          <a:ln w="12700">
            <a:solidFill>
              <a:srgbClr val="1E2E52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00887" y="1400000"/>
            <a:ext cx="731520" cy="73152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</p:spPr>
        <p:txBody>
          <a:bodyPr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500887" y="2250000"/>
            <a:ext cx="2432304" cy="65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cs typeface="Calibri" pitchFamily="34" charset="0"/>
              </a:rPr>
              <a:t>One sentence starts it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00887" y="2950000"/>
            <a:ext cx="2432304" cy="80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en-US" sz="1200" b="0" dirty="0">
                <a:solidFill>
                  <a:srgbClr val="C9D1E0"/>
                </a:solidFill>
                <a:latin typeface="Calibri" pitchFamily="34" charset="0"/>
                <a:cs typeface="Calibri" pitchFamily="34" charset="0"/>
              </a:rPr>
              <a:t>No filters to fill in. The skill already knows the target roles, the Portland-or-remote rule, the 14-day window and the $90k floor.</a:t>
            </a:r>
          </a:p>
        </p:txBody>
      </p:sp>
      <p:pic>
        <p:nvPicPr>
          <p:cNvPr id="20" name="Screenshot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5334" y="2069214"/>
            <a:ext cx="4847970" cy="1561571"/>
          </a:xfrm>
          <a:prstGeom prst="rect">
            <a:avLst/>
          </a:prstGeom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299720" y="330000"/>
            <a:ext cx="8544560" cy="64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Futura PT Bold" panose="020B0502020204020303" pitchFamily="34" charset="77"/>
              </a:rPr>
              <a:t>Step 2 — It searches employer sites first</a:t>
            </a:r>
          </a:p>
        </p:txBody>
      </p:sp>
      <p:sp>
        <p:nvSpPr>
          <p:cNvPr id="10" name="Shape 10"/>
          <p:cNvSpPr/>
          <p:nvPr/>
        </p:nvSpPr>
        <p:spPr>
          <a:xfrm>
            <a:off x="299719" y="1200000"/>
            <a:ext cx="2834640" cy="2600000"/>
          </a:xfrm>
          <a:prstGeom prst="roundRect">
            <a:avLst/>
          </a:prstGeom>
          <a:solidFill>
            <a:srgbClr val="1E2E52"/>
          </a:solidFill>
          <a:ln w="12700">
            <a:solidFill>
              <a:srgbClr val="1E2E52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00887" y="1400000"/>
            <a:ext cx="731520" cy="73152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</p:spPr>
        <p:txBody>
          <a:bodyPr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500887" y="2250000"/>
            <a:ext cx="2432304" cy="65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cs typeface="Calibri" pitchFamily="34" charset="0"/>
              </a:rPr>
              <a:t>Not the job boards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00887" y="2950000"/>
            <a:ext cx="2432304" cy="80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en-US" sz="1200" b="0" dirty="0">
                <a:solidFill>
                  <a:srgbClr val="C9D1E0"/>
                </a:solidFill>
                <a:latin typeface="Calibri" pitchFamily="34" charset="0"/>
                <a:cs typeface="Calibri" pitchFamily="34" charset="0"/>
              </a:rPr>
              <a:t>Autodesk, Trimble and Nike every run, in their vocabulary as well as mine. Their sites show the true posted date.</a:t>
            </a:r>
          </a:p>
        </p:txBody>
      </p:sp>
      <p:pic>
        <p:nvPicPr>
          <p:cNvPr id="20" name="Screenshot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7890" y="1200000"/>
            <a:ext cx="4542857" cy="3299999"/>
          </a:xfrm>
          <a:prstGeom prst="rect">
            <a:avLst/>
          </a:prstGeom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299720" y="330000"/>
            <a:ext cx="8544560" cy="64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Futura PT Bold" panose="020B0502020204020303" pitchFamily="34" charset="77"/>
              </a:rPr>
              <a:t>Step 3 — Every posting gets checked</a:t>
            </a:r>
          </a:p>
        </p:txBody>
      </p:sp>
      <p:sp>
        <p:nvSpPr>
          <p:cNvPr id="10" name="Shape 10"/>
          <p:cNvSpPr/>
          <p:nvPr/>
        </p:nvSpPr>
        <p:spPr>
          <a:xfrm>
            <a:off x="299719" y="1200000"/>
            <a:ext cx="2834640" cy="2600000"/>
          </a:xfrm>
          <a:prstGeom prst="roundRect">
            <a:avLst/>
          </a:prstGeom>
          <a:solidFill>
            <a:srgbClr val="1E2E52"/>
          </a:solidFill>
          <a:ln w="12700">
            <a:solidFill>
              <a:srgbClr val="1E2E52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00887" y="1400000"/>
            <a:ext cx="731520" cy="73152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</p:spPr>
        <p:txBody>
          <a:bodyPr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Calibri" pitchFamily="34" charset="0"/>
              </a:rPr>
              <a:t>3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500887" y="2250000"/>
            <a:ext cx="2432304" cy="65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cs typeface="Calibri" pitchFamily="34" charset="0"/>
              </a:rPr>
              <a:t>Live, on the employer’s page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00887" y="2950000"/>
            <a:ext cx="2432304" cy="80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en-US" sz="1200" b="0" dirty="0">
                <a:solidFill>
                  <a:srgbClr val="C9D1E0"/>
                </a:solidFill>
                <a:latin typeface="Calibri" pitchFamily="34" charset="0"/>
                <a:cs typeface="Calibri" pitchFamily="34" charset="0"/>
              </a:rPr>
              <a:t>Fetch the page, scan it for “no longer accepting” and “page not found”, and take the posted date from the employer.</a:t>
            </a:r>
          </a:p>
        </p:txBody>
      </p:sp>
      <p:pic>
        <p:nvPicPr>
          <p:cNvPr id="20" name="Screenshot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7890" y="1200000"/>
            <a:ext cx="4542857" cy="3299999"/>
          </a:xfrm>
          <a:prstGeom prst="rect">
            <a:avLst/>
          </a:prstGeom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299720" y="330000"/>
            <a:ext cx="85445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Futura PT Bold" panose="020B0502020204020303" pitchFamily="34" charset="77"/>
              </a:rPr>
              <a:t>Step 4 — Results output to a spreadsheet</a:t>
            </a:r>
          </a:p>
        </p:txBody>
      </p:sp>
      <p:sp>
        <p:nvSpPr>
          <p:cNvPr id="10" name="Shape 10"/>
          <p:cNvSpPr/>
          <p:nvPr/>
        </p:nvSpPr>
        <p:spPr>
          <a:xfrm>
            <a:off x="299719" y="1200000"/>
            <a:ext cx="2834640" cy="2600000"/>
          </a:xfrm>
          <a:prstGeom prst="roundRect">
            <a:avLst/>
          </a:prstGeom>
          <a:solidFill>
            <a:srgbClr val="1E2E52"/>
          </a:solidFill>
          <a:ln w="12700">
            <a:solidFill>
              <a:srgbClr val="1E2E52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00887" y="1400000"/>
            <a:ext cx="731520" cy="73152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</p:spPr>
        <p:txBody>
          <a:bodyPr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Calibri" pitchFamily="34" charset="0"/>
              </a:rPr>
              <a:t>4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500887" y="2250000"/>
            <a:ext cx="2432304" cy="65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cs typeface="Calibri" pitchFamily="34" charset="0"/>
              </a:rPr>
              <a:t>Apply links you can click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00887" y="2950000"/>
            <a:ext cx="2432304" cy="80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en-US" sz="1200" b="0" dirty="0">
                <a:solidFill>
                  <a:srgbClr val="C9D1E0"/>
                </a:solidFill>
                <a:latin typeface="Calibri" pitchFamily="34" charset="0"/>
                <a:cs typeface="Calibri" pitchFamily="34" charset="0"/>
              </a:rPr>
              <a:t>Ranked by pay, fit and recency, with what got filtered out and why. Column 4 is always the employer’s own application link.</a:t>
            </a:r>
          </a:p>
        </p:txBody>
      </p:sp>
      <p:pic>
        <p:nvPicPr>
          <p:cNvPr id="20" name="Screenshot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5334" y="2185359"/>
            <a:ext cx="4847970" cy="1329282"/>
          </a:xfrm>
          <a:prstGeom prst="rect">
            <a:avLst/>
          </a:prstGeom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299720" y="330000"/>
            <a:ext cx="8544560" cy="64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Futura PT Bold" panose="020B0502020204020303" pitchFamily="34" charset="77"/>
              </a:rPr>
              <a:t>Step 5 — Hand the job to resumeStart</a:t>
            </a:r>
          </a:p>
        </p:txBody>
      </p:sp>
      <p:sp>
        <p:nvSpPr>
          <p:cNvPr id="10" name="Shape 10"/>
          <p:cNvSpPr/>
          <p:nvPr/>
        </p:nvSpPr>
        <p:spPr>
          <a:xfrm>
            <a:off x="299719" y="1200000"/>
            <a:ext cx="2834640" cy="2600000"/>
          </a:xfrm>
          <a:prstGeom prst="roundRect">
            <a:avLst/>
          </a:prstGeom>
          <a:solidFill>
            <a:srgbClr val="1E2E52"/>
          </a:solidFill>
          <a:ln w="12700">
            <a:solidFill>
              <a:srgbClr val="1E2E52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00887" y="1400000"/>
            <a:ext cx="731520" cy="731520"/>
          </a:xfrm>
          <a:prstGeom prst="ellipse">
            <a:avLst/>
          </a:prstGeom>
          <a:solidFill>
            <a:srgbClr val="E09F3E"/>
          </a:solidFill>
          <a:ln w="12700">
            <a:solidFill>
              <a:srgbClr val="E09F3E"/>
            </a:solidFill>
          </a:ln>
        </p:spPr>
        <p:txBody>
          <a:bodyPr anchor="ctr"/>
          <a:lstStyle/>
          <a:p>
            <a:pPr algn="ctr"/>
            <a:r>
              <a:rPr lang="en-US" sz="2800" b="1" dirty="0">
                <a:solidFill>
                  <a:srgbClr val="14213D"/>
                </a:solidFill>
                <a:latin typeface="Calibri" pitchFamily="34" charset="0"/>
              </a:rPr>
              <a:t>5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500887" y="2250000"/>
            <a:ext cx="2432304" cy="65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cs typeface="Calibri" pitchFamily="34" charset="0"/>
              </a:rPr>
              <a:t>Point it at the posting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00887" y="2626570"/>
            <a:ext cx="2432304" cy="80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en-US" sz="1200" b="0" dirty="0">
                <a:solidFill>
                  <a:srgbClr val="C9D1E0"/>
                </a:solidFill>
                <a:latin typeface="Calibri" pitchFamily="34" charset="0"/>
                <a:cs typeface="Calibri" pitchFamily="34" charset="0"/>
              </a:rPr>
              <a:t>“Prepare a resume for #1”, or paste the job URL. It asks: ATS or human-readable, IC or manager, which themes, cover letter?</a:t>
            </a:r>
          </a:p>
        </p:txBody>
      </p:sp>
      <p:pic>
        <p:nvPicPr>
          <p:cNvPr id="20" name="Screenshot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5334" y="1799606"/>
            <a:ext cx="4847970" cy="2100787"/>
          </a:xfrm>
          <a:prstGeom prst="rect">
            <a:avLst/>
          </a:prstGeom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299720" y="330000"/>
            <a:ext cx="85445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Futura PT Bold" panose="020B0502020204020303" pitchFamily="34" charset="77"/>
              </a:rPr>
              <a:t>Step 6 — A tailored resume</a:t>
            </a:r>
          </a:p>
        </p:txBody>
      </p:sp>
      <p:sp>
        <p:nvSpPr>
          <p:cNvPr id="10" name="Shape 10"/>
          <p:cNvSpPr/>
          <p:nvPr/>
        </p:nvSpPr>
        <p:spPr>
          <a:xfrm>
            <a:off x="299719" y="1200000"/>
            <a:ext cx="2834640" cy="2600000"/>
          </a:xfrm>
          <a:prstGeom prst="roundRect">
            <a:avLst/>
          </a:prstGeom>
          <a:solidFill>
            <a:srgbClr val="1E2E52"/>
          </a:solidFill>
          <a:ln w="12700">
            <a:solidFill>
              <a:srgbClr val="1E2E52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00887" y="1400000"/>
            <a:ext cx="731520" cy="731520"/>
          </a:xfrm>
          <a:prstGeom prst="ellipse">
            <a:avLst/>
          </a:prstGeom>
          <a:solidFill>
            <a:srgbClr val="E09F3E"/>
          </a:solidFill>
          <a:ln w="12700">
            <a:solidFill>
              <a:srgbClr val="E09F3E"/>
            </a:solidFill>
          </a:ln>
        </p:spPr>
        <p:txBody>
          <a:bodyPr anchor="ctr"/>
          <a:lstStyle/>
          <a:p>
            <a:pPr algn="ctr"/>
            <a:r>
              <a:rPr lang="en-US" sz="2800" b="1" dirty="0">
                <a:solidFill>
                  <a:srgbClr val="14213D"/>
                </a:solidFill>
                <a:latin typeface="Calibri" pitchFamily="34" charset="0"/>
              </a:rPr>
              <a:t>6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500887" y="2250000"/>
            <a:ext cx="2432304" cy="65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cs typeface="Calibri" pitchFamily="34" charset="0"/>
              </a:rPr>
              <a:t>Built for either a human or a parser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00887" y="2950000"/>
            <a:ext cx="2432304" cy="80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en-US" sz="1200" b="0" dirty="0">
                <a:solidFill>
                  <a:srgbClr val="C9D1E0"/>
                </a:solidFill>
                <a:latin typeface="Calibri" pitchFamily="34" charset="0"/>
                <a:cs typeface="Calibri" pitchFamily="34" charset="0"/>
              </a:rPr>
              <a:t>Each resume strives to use the posting’s exact words and apply to my real experience. Gaps are left out, not invented.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94403C2-E5CC-35BD-3224-714B2A1F71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6949" y="1200000"/>
            <a:ext cx="5417331" cy="30698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299720" y="330000"/>
            <a:ext cx="8544560" cy="64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Futura PT Bold" panose="020B0502020204020303" pitchFamily="34" charset="77"/>
              </a:rPr>
              <a:t>Step 7 — Apply</a:t>
            </a:r>
          </a:p>
        </p:txBody>
      </p:sp>
      <p:sp>
        <p:nvSpPr>
          <p:cNvPr id="10" name="Shape 10"/>
          <p:cNvSpPr/>
          <p:nvPr/>
        </p:nvSpPr>
        <p:spPr>
          <a:xfrm>
            <a:off x="299719" y="1200000"/>
            <a:ext cx="2834640" cy="2600000"/>
          </a:xfrm>
          <a:prstGeom prst="roundRect">
            <a:avLst/>
          </a:prstGeom>
          <a:solidFill>
            <a:srgbClr val="1E2E52"/>
          </a:solidFill>
          <a:ln w="12700">
            <a:solidFill>
              <a:srgbClr val="1E2E52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00887" y="1400000"/>
            <a:ext cx="731520" cy="731520"/>
          </a:xfrm>
          <a:prstGeom prst="ellipse">
            <a:avLst/>
          </a:prstGeom>
          <a:solidFill>
            <a:srgbClr val="E09F3E"/>
          </a:solidFill>
          <a:ln w="12700">
            <a:solidFill>
              <a:srgbClr val="E09F3E"/>
            </a:solidFill>
          </a:ln>
        </p:spPr>
        <p:txBody>
          <a:bodyPr anchor="ctr"/>
          <a:lstStyle/>
          <a:p>
            <a:pPr algn="ctr"/>
            <a:r>
              <a:rPr lang="en-US" sz="2800" b="1" dirty="0">
                <a:solidFill>
                  <a:srgbClr val="14213D"/>
                </a:solidFill>
                <a:latin typeface="Calibri" pitchFamily="34" charset="0"/>
              </a:rPr>
              <a:t>7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500887" y="2250000"/>
            <a:ext cx="2432304" cy="65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cs typeface="Calibri" pitchFamily="34" charset="0"/>
              </a:rPr>
              <a:t>Autofill with Resume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00887" y="2659240"/>
            <a:ext cx="2432304" cy="80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en-US" sz="1200" b="0" dirty="0">
                <a:solidFill>
                  <a:srgbClr val="C9D1E0"/>
                </a:solidFill>
                <a:latin typeface="Calibri" pitchFamily="34" charset="0"/>
                <a:cs typeface="Calibri" pitchFamily="34" charset="0"/>
              </a:rPr>
              <a:t>Single column, no tables, a company name in every role block — so Workday fills the employer fields instead of leaving them blank.</a:t>
            </a:r>
          </a:p>
        </p:txBody>
      </p:sp>
      <p:pic>
        <p:nvPicPr>
          <p:cNvPr id="20" name="Screenshot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0748" y="1200000"/>
            <a:ext cx="3677142" cy="3300000"/>
          </a:xfrm>
          <a:prstGeom prst="rect">
            <a:avLst/>
          </a:prstGeom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C8A901-53F1-270E-7F5D-3144FA864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A2FE07ED-90FC-0D95-E846-D3EEAB4F7D31}"/>
              </a:ext>
            </a:extLst>
          </p:cNvPr>
          <p:cNvSpPr txBox="1"/>
          <p:nvPr/>
        </p:nvSpPr>
        <p:spPr>
          <a:xfrm>
            <a:off x="299720" y="330000"/>
            <a:ext cx="8544560" cy="15081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Futura PT Bold" panose="020B0502020204020303" pitchFamily="34" charset="77"/>
              </a:rPr>
              <a:t>Where to download: </a:t>
            </a:r>
            <a:r>
              <a: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https://github.com/maubryPython/recruiter-in-a-box</a:t>
            </a:r>
            <a:endParaRPr lang="en-US" sz="2800" dirty="0">
              <a:solidFill>
                <a:schemeClr val="tx1">
                  <a:lumMod val="85000"/>
                  <a:lumOff val="15000"/>
                </a:schemeClr>
              </a:solidFill>
              <a:latin typeface="+mj-lt"/>
            </a:endParaRPr>
          </a:p>
          <a:p>
            <a:endParaRPr lang="en-US" sz="3200" dirty="0">
              <a:latin typeface="Futura PT Bold" panose="020B0502020204020303" pitchFamily="34" charset="77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586A800-F6A1-ED69-1A2D-329C2F4F12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720" y="1716402"/>
            <a:ext cx="5333435" cy="309709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7764FFA-8965-3FDF-9AA5-6BC73072B86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48866"/>
          <a:stretch>
            <a:fillRect/>
          </a:stretch>
        </p:blipFill>
        <p:spPr>
          <a:xfrm>
            <a:off x="5878591" y="2275862"/>
            <a:ext cx="2720253" cy="1435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18060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A703F0-6853-5491-58EF-6CA8072E93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F789E5E3-DA24-641F-F2B8-131DA067CDA2}"/>
              </a:ext>
            </a:extLst>
          </p:cNvPr>
          <p:cNvSpPr txBox="1"/>
          <p:nvPr/>
        </p:nvSpPr>
        <p:spPr>
          <a:xfrm>
            <a:off x="299720" y="330000"/>
            <a:ext cx="8544560" cy="15081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Futura PT Bold" panose="020B0502020204020303" pitchFamily="34" charset="77"/>
              </a:rPr>
              <a:t>How to Start: </a:t>
            </a:r>
            <a:r>
              <a: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https://github.com/maubryPython/recruiter-in-a-box</a:t>
            </a:r>
            <a:endParaRPr lang="en-US" sz="2800" dirty="0">
              <a:solidFill>
                <a:schemeClr val="tx1">
                  <a:lumMod val="85000"/>
                  <a:lumOff val="15000"/>
                </a:schemeClr>
              </a:solidFill>
              <a:latin typeface="+mj-lt"/>
            </a:endParaRPr>
          </a:p>
          <a:p>
            <a:endParaRPr lang="en-US" sz="3200" dirty="0">
              <a:latin typeface="Futura PT Bold" panose="020B0502020204020303" pitchFamily="34" charset="77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5515206-5EF9-9BF9-B570-13E83C63D1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720" y="1580128"/>
            <a:ext cx="5749178" cy="3233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78324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6449</TotalTime>
  <Words>706</Words>
  <Application>Microsoft Macintosh PowerPoint</Application>
  <PresentationFormat>On-screen Show (16:9)</PresentationFormat>
  <Paragraphs>83</Paragraphs>
  <Slides>17</Slides>
  <Notes>3</Notes>
  <HiddenSlides>7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Arial</vt:lpstr>
      <vt:lpstr>Calibri</vt:lpstr>
      <vt:lpstr>Calibri Light</vt:lpstr>
      <vt:lpstr>Futura PT Bold</vt:lpstr>
      <vt:lpstr>Futura PT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Your AI Job-Hunt Crew: resumeStart + jobSearch</dc:title>
  <dc:subject>PptxGenJS Presentation</dc:subject>
  <dc:creator>Michael Aubry</dc:creator>
  <cp:lastModifiedBy>Michael Aubry</cp:lastModifiedBy>
  <cp:revision>10</cp:revision>
  <dcterms:created xsi:type="dcterms:W3CDTF">2026-09-11T17:39:18Z</dcterms:created>
  <dcterms:modified xsi:type="dcterms:W3CDTF">2026-10-07T18:12:49Z</dcterms:modified>
</cp:coreProperties>
</file>